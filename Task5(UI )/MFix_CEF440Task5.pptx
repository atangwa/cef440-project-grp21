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2" r:id="rId11"/>
    <p:sldId id="266" r:id="rId12"/>
    <p:sldId id="267" r:id="rId13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41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7"/>
          <p:cNvSpPr txBox="1">
            <a:spLocks/>
          </p:cNvSpPr>
          <p:nvPr/>
        </p:nvSpPr>
        <p:spPr>
          <a:xfrm>
            <a:off x="532659" y="754929"/>
            <a:ext cx="10211656" cy="2387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550" b="1" dirty="0" smtClean="0"/>
              <a:t>CAR FAULT DIAGNOSTIC APP</a:t>
            </a:r>
            <a:br>
              <a:rPr lang="en-GB" sz="4550" b="1" dirty="0" smtClean="0"/>
            </a:br>
            <a:r>
              <a:rPr lang="en-GB" sz="4550" b="1" dirty="0" smtClean="0"/>
              <a:t>UI DESIGN AND FRONTEND IMPLEMENTATION</a:t>
            </a:r>
            <a:endParaRPr lang="fr-FR" sz="4550" b="1" dirty="0"/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720838" y="3476187"/>
            <a:ext cx="5037731" cy="159024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 smtClean="0"/>
              <a:t>Course code: CEF440  </a:t>
            </a:r>
          </a:p>
          <a:p>
            <a:pPr marL="0" indent="0">
              <a:buNone/>
            </a:pPr>
            <a:r>
              <a:rPr lang="en-GB" dirty="0" smtClean="0"/>
              <a:t>Course Instructor: </a:t>
            </a:r>
            <a:r>
              <a:rPr lang="en-GB" dirty="0" err="1" smtClean="0"/>
              <a:t>Dr.Nkemeni</a:t>
            </a:r>
            <a:r>
              <a:rPr lang="en-GB" dirty="0" smtClean="0"/>
              <a:t>  </a:t>
            </a:r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127650" y="5742503"/>
            <a:ext cx="6400800" cy="1015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dirty="0" smtClean="0">
                <a:solidFill>
                  <a:schemeClr val="tx1"/>
                </a:solidFill>
              </a:rPr>
              <a:t>Presented by Group 21  </a:t>
            </a:r>
          </a:p>
          <a:p>
            <a:endParaRPr lang="en-GB" dirty="0" smtClean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169" y="-129278"/>
            <a:ext cx="6244231" cy="833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65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8460" y="1798320"/>
            <a:ext cx="2697480" cy="4632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Smart </a:t>
            </a: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Car Diagnostic Mobile App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App</a:t>
            </a:r>
            <a:r>
              <a:rPr lang="en-US" sz="1750" dirty="0" smtClean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bridges the gap between car users and repair services through a mobile diagnostic platform. It provides real-time monitoring and fault detection by scanning dashboards and recognising engine sounds.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2282190"/>
            <a:ext cx="4480560" cy="36652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3436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App Identity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39256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000000"/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2435066"/>
            <a:ext cx="340162" cy="42529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30906" y="24704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Name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530906" y="2960846"/>
            <a:ext cx="289941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 err="1" smtClean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MFix</a:t>
            </a:r>
            <a:endParaRPr lang="en-US" sz="1750" b="1" dirty="0" smtClean="0">
              <a:solidFill>
                <a:srgbClr val="4C4C4C"/>
              </a:solidFill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'M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' stands for Moto (car in Cameroon pidgin). Reflects the app's purpose of diagnosing vehicle issues using mobile devices.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4713803" y="239256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000000"/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8874" y="2435066"/>
            <a:ext cx="340162" cy="4252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50919" y="24704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Colour Theme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50919" y="2960846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Green (innovation, trust), Black (modern, battery-friendly), and White (clarity, readability).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793790" y="559188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000000"/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860" y="5634395"/>
            <a:ext cx="340162" cy="4252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30906" y="56697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Target Users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1530906" y="616017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Car owners, drivers, and mechanics seeking simple diagnostic solutions.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055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58" y="2692360"/>
            <a:ext cx="4411028" cy="55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Core Features</a:t>
            </a:r>
            <a:endParaRPr lang="en-US" sz="3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58" y="3508296"/>
            <a:ext cx="882134" cy="10585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64149" y="3684627"/>
            <a:ext cx="2498646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Dashboard Recognition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764149" y="4066103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Camera-based scanning of dashboard lights and signs.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58" y="4566880"/>
            <a:ext cx="882134" cy="10585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64149" y="4743212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Sound Analysis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764149" y="5124688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Engine sound analysis using machine learning models.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58" y="5625465"/>
            <a:ext cx="882134" cy="10585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64149" y="5801797"/>
            <a:ext cx="223420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Multilingual Support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764149" y="6183273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English, French, and local languages.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458" y="6684050"/>
            <a:ext cx="882134" cy="10585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64149" y="6860381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Garage Suggestions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1764149" y="7241858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Geolocation-based mechanic recommendations.</a:t>
            </a:r>
            <a:endParaRPr lang="en-US" sz="13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xmlns="" id="{84F23960-342C-D6A8-C2B7-5D933B78AD2D}"/>
              </a:ext>
            </a:extLst>
          </p:cNvPr>
          <p:cNvSpPr/>
          <p:nvPr/>
        </p:nvSpPr>
        <p:spPr>
          <a:xfrm>
            <a:off x="12730163" y="7794783"/>
            <a:ext cx="1775698" cy="4304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71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Design </a:t>
            </a:r>
            <a:r>
              <a:rPr lang="en-US" sz="4450" dirty="0" smtClean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Principles 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330" y="3666649"/>
            <a:ext cx="7825621" cy="782562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456" y="6217087"/>
            <a:ext cx="382667" cy="47839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30" y="3666649"/>
            <a:ext cx="7825621" cy="7825621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631" y="4628912"/>
            <a:ext cx="382667" cy="478393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330" y="3666649"/>
            <a:ext cx="7825621" cy="7825621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6745" y="4628912"/>
            <a:ext cx="382667" cy="478393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2330" y="3666649"/>
            <a:ext cx="7825621" cy="7825621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4920" y="6217087"/>
            <a:ext cx="382667" cy="478393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878919" y="3083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Consistency</a:t>
            </a:r>
            <a:endParaRPr lang="en-US" sz="2200" dirty="0"/>
          </a:p>
        </p:txBody>
      </p:sp>
      <p:sp>
        <p:nvSpPr>
          <p:cNvPr id="12" name="Text 2"/>
          <p:cNvSpPr/>
          <p:nvPr/>
        </p:nvSpPr>
        <p:spPr>
          <a:xfrm>
            <a:off x="793790" y="3573542"/>
            <a:ext cx="30054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Unified theme with consistent button styles, spacing, and iconography.</a:t>
            </a:r>
            <a:endParaRPr lang="en-US" sz="1750" dirty="0"/>
          </a:p>
        </p:txBody>
      </p:sp>
      <p:sp>
        <p:nvSpPr>
          <p:cNvPr id="13" name="Text 3"/>
          <p:cNvSpPr/>
          <p:nvPr/>
        </p:nvSpPr>
        <p:spPr>
          <a:xfrm>
            <a:off x="4224576" y="1812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Simplicity</a:t>
            </a:r>
            <a:endParaRPr lang="en-US" sz="2200" dirty="0"/>
          </a:p>
        </p:txBody>
      </p:sp>
      <p:sp>
        <p:nvSpPr>
          <p:cNvPr id="14" name="Text 4"/>
          <p:cNvSpPr/>
          <p:nvPr/>
        </p:nvSpPr>
        <p:spPr>
          <a:xfrm>
            <a:off x="4139446" y="2302907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Only essential actions and information on each screen.</a:t>
            </a:r>
            <a:endParaRPr lang="en-US" sz="1750" dirty="0"/>
          </a:p>
        </p:txBody>
      </p:sp>
      <p:sp>
        <p:nvSpPr>
          <p:cNvPr id="15" name="Text 5"/>
          <p:cNvSpPr/>
          <p:nvPr/>
        </p:nvSpPr>
        <p:spPr>
          <a:xfrm>
            <a:off x="7570351" y="1812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Visibility</a:t>
            </a:r>
            <a:endParaRPr lang="en-US" sz="2200" dirty="0"/>
          </a:p>
        </p:txBody>
      </p:sp>
      <p:sp>
        <p:nvSpPr>
          <p:cNvPr id="16" name="Text 6"/>
          <p:cNvSpPr/>
          <p:nvPr/>
        </p:nvSpPr>
        <p:spPr>
          <a:xfrm>
            <a:off x="7485221" y="2302907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Clear feedback through loading indicators and visual cues.</a:t>
            </a:r>
            <a:endParaRPr lang="en-US" sz="1750" dirty="0"/>
          </a:p>
        </p:txBody>
      </p:sp>
      <p:sp>
        <p:nvSpPr>
          <p:cNvPr id="17" name="Text 7"/>
          <p:cNvSpPr/>
          <p:nvPr/>
        </p:nvSpPr>
        <p:spPr>
          <a:xfrm>
            <a:off x="10916126" y="3083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Accessibility</a:t>
            </a:r>
            <a:endParaRPr lang="en-US" sz="2200" dirty="0"/>
          </a:p>
        </p:txBody>
      </p:sp>
      <p:sp>
        <p:nvSpPr>
          <p:cNvPr id="18" name="Text 8"/>
          <p:cNvSpPr/>
          <p:nvPr/>
        </p:nvSpPr>
        <p:spPr>
          <a:xfrm>
            <a:off x="10830997" y="3573542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 contrast colours, readable fonts, and intuitive icons.</a:t>
            </a:r>
            <a:endParaRPr lang="en-US" sz="17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xmlns="" id="{DECDEA52-7D20-7D7F-B752-D5A90C2A8DEF}"/>
              </a:ext>
            </a:extLst>
          </p:cNvPr>
          <p:cNvSpPr/>
          <p:nvPr/>
        </p:nvSpPr>
        <p:spPr>
          <a:xfrm>
            <a:off x="12730163" y="7794783"/>
            <a:ext cx="1775698" cy="4304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0"/>
          <p:cNvSpPr/>
          <p:nvPr/>
        </p:nvSpPr>
        <p:spPr>
          <a:xfrm>
            <a:off x="4023597" y="260837"/>
            <a:ext cx="65830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</a:rPr>
              <a:t>User Interface(UI) Design</a:t>
            </a:r>
            <a:endParaRPr lang="en-US" sz="4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xmlns="" id="{70F717C7-33F3-8CCD-36E1-86068D825251}"/>
              </a:ext>
            </a:extLst>
          </p:cNvPr>
          <p:cNvSpPr/>
          <p:nvPr/>
        </p:nvSpPr>
        <p:spPr>
          <a:xfrm>
            <a:off x="12730163" y="7794783"/>
            <a:ext cx="1775698" cy="4304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28769" y="494109"/>
            <a:ext cx="4491990" cy="561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UI Design Process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28769" y="1953935"/>
            <a:ext cx="4277916" cy="179665"/>
          </a:xfrm>
          <a:prstGeom prst="roundRect">
            <a:avLst>
              <a:gd name="adj" fmla="val 42004"/>
            </a:avLst>
          </a:prstGeom>
          <a:solidFill>
            <a:srgbClr val="000000"/>
          </a:solidFill>
          <a:ln w="7620">
            <a:solidFill>
              <a:srgbClr val="CCC4B8"/>
            </a:solidFill>
            <a:prstDash val="solid"/>
          </a:ln>
          <a:effectLst>
            <a:outerShdw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8769" y="2403038"/>
            <a:ext cx="2245995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Figma Prototyping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28769" y="2791420"/>
            <a:ext cx="4277916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Created consistent layouts using reusable components and shared styles.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76123" y="1684377"/>
            <a:ext cx="4278035" cy="179665"/>
          </a:xfrm>
          <a:prstGeom prst="roundRect">
            <a:avLst>
              <a:gd name="adj" fmla="val 42004"/>
            </a:avLst>
          </a:prstGeom>
          <a:solidFill>
            <a:srgbClr val="000000"/>
          </a:solidFill>
          <a:ln w="7620">
            <a:solidFill>
              <a:srgbClr val="CCC4B8"/>
            </a:solidFill>
            <a:prstDash val="solid"/>
          </a:ln>
          <a:effectLst>
            <a:outerShdw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76123" y="2133481"/>
            <a:ext cx="2245995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Visual Hierarchy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176123" y="2521863"/>
            <a:ext cx="4278035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Established through size, spacing, and colour contrast.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723596" y="1414939"/>
            <a:ext cx="4278035" cy="179665"/>
          </a:xfrm>
          <a:prstGeom prst="roundRect">
            <a:avLst>
              <a:gd name="adj" fmla="val 42004"/>
            </a:avLst>
          </a:prstGeom>
          <a:solidFill>
            <a:srgbClr val="000000"/>
          </a:solidFill>
          <a:ln w="7620">
            <a:solidFill>
              <a:srgbClr val="CCC4B8"/>
            </a:solidFill>
            <a:prstDash val="solid"/>
          </a:ln>
          <a:effectLst>
            <a:outerShdw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23596" y="1864042"/>
            <a:ext cx="2338507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User Flow Simulation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23596" y="2252424"/>
            <a:ext cx="4278035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Mapped navigation between screens for intuitive experience.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89" y="3685461"/>
            <a:ext cx="4356735" cy="4356735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833" y="3685461"/>
            <a:ext cx="4356735" cy="4356735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276" y="3685461"/>
            <a:ext cx="4356735" cy="43567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7720"/>
            <a:ext cx="5486400" cy="74218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89548" y="740807"/>
            <a:ext cx="6198692" cy="62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 smtClean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Frontend Technology  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183035" y="1581865"/>
            <a:ext cx="7750731" cy="1373504"/>
          </a:xfrm>
          <a:prstGeom prst="roundRect">
            <a:avLst>
              <a:gd name="adj" fmla="val 5647"/>
            </a:avLst>
          </a:prstGeom>
          <a:solidFill>
            <a:schemeClr val="accent2">
              <a:lumMod val="20000"/>
              <a:lumOff val="80000"/>
            </a:schemeClr>
          </a:solidFill>
          <a:ln w="7620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89608" y="1681401"/>
            <a:ext cx="2488049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React Native &amp; Expo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389608" y="2111812"/>
            <a:ext cx="7337584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Cross-platform development framework allowing single codebase for Android and iOS. Expo simplifies builds and device previews.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183034" y="3146702"/>
            <a:ext cx="7750731" cy="1480542"/>
          </a:xfrm>
          <a:prstGeom prst="roundRect">
            <a:avLst>
              <a:gd name="adj" fmla="val 5647"/>
            </a:avLst>
          </a:prstGeom>
          <a:solidFill>
            <a:schemeClr val="accent2">
              <a:lumMod val="20000"/>
              <a:lumOff val="80000"/>
            </a:schemeClr>
          </a:solidFill>
          <a:ln w="7620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89608" y="3360896"/>
            <a:ext cx="2488049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JavaScript (ES6+)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389608" y="3791307"/>
            <a:ext cx="7337584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Primary programming language offering flexibility and a wide ecosystem for mobile app development.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83035" y="4833818"/>
            <a:ext cx="7750731" cy="1480542"/>
          </a:xfrm>
          <a:prstGeom prst="roundRect">
            <a:avLst>
              <a:gd name="adj" fmla="val 5647"/>
            </a:avLst>
          </a:prstGeom>
          <a:solidFill>
            <a:schemeClr val="accent2">
              <a:lumMod val="20000"/>
              <a:lumOff val="80000"/>
            </a:schemeClr>
          </a:solidFill>
          <a:ln w="7620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89608" y="5040392"/>
            <a:ext cx="2488049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React Navigation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389608" y="5470803"/>
            <a:ext cx="7337584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Handles routing across screens, supporting stack, tab, and drawer navigation patterns.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83035" y="6513314"/>
            <a:ext cx="7750731" cy="1162050"/>
          </a:xfrm>
          <a:prstGeom prst="roundRect">
            <a:avLst>
              <a:gd name="adj" fmla="val 7194"/>
            </a:avLst>
          </a:prstGeom>
          <a:solidFill>
            <a:schemeClr val="accent2">
              <a:lumMod val="20000"/>
              <a:lumOff val="80000"/>
            </a:schemeClr>
          </a:solidFill>
          <a:ln w="7620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89608" y="6719888"/>
            <a:ext cx="3363278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Context API &amp; AsyncStorage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389608" y="7150298"/>
            <a:ext cx="733758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Global state management and persistent local storage for user data.</a:t>
            </a:r>
            <a:endParaRPr lang="en-US" sz="15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xmlns="" id="{22AFAD56-A543-DE1D-6619-428B1D6A9253}"/>
              </a:ext>
            </a:extLst>
          </p:cNvPr>
          <p:cNvSpPr/>
          <p:nvPr/>
        </p:nvSpPr>
        <p:spPr>
          <a:xfrm>
            <a:off x="12730163" y="7794783"/>
            <a:ext cx="1775698" cy="4304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0"/>
          <p:cNvSpPr/>
          <p:nvPr/>
        </p:nvSpPr>
        <p:spPr>
          <a:xfrm>
            <a:off x="4333517" y="67925"/>
            <a:ext cx="66002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</a:rPr>
              <a:t>Frontend Implementation</a:t>
            </a:r>
            <a:endParaRPr lang="en-US" sz="44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0675" y="295691"/>
            <a:ext cx="63537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</a:rPr>
              <a:t>Frontend Implementation</a:t>
            </a:r>
            <a:endParaRPr lang="en-US" sz="4450" dirty="0"/>
          </a:p>
        </p:txBody>
      </p:sp>
      <p:sp>
        <p:nvSpPr>
          <p:cNvPr id="3" name="Text 0"/>
          <p:cNvSpPr/>
          <p:nvPr/>
        </p:nvSpPr>
        <p:spPr>
          <a:xfrm>
            <a:off x="822959" y="939725"/>
            <a:ext cx="67195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</a:rPr>
              <a:t>UI Design Implementation</a:t>
            </a:r>
            <a:endParaRPr lang="en-US" sz="445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310" y="2778200"/>
            <a:ext cx="2975610" cy="465980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234970" y="2928053"/>
            <a:ext cx="21411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1750" b="1" dirty="0" smtClean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</a:rPr>
              <a:t>Vehicle status page</a:t>
            </a:r>
            <a:endParaRPr lang="en-US" sz="1750" b="1" dirty="0"/>
          </a:p>
        </p:txBody>
      </p:sp>
      <p:sp>
        <p:nvSpPr>
          <p:cNvPr id="6" name="Rectangle 5"/>
          <p:cNvSpPr/>
          <p:nvPr/>
        </p:nvSpPr>
        <p:spPr>
          <a:xfrm>
            <a:off x="372070" y="1697840"/>
            <a:ext cx="712535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- Follows </a:t>
            </a:r>
            <a:r>
              <a:rPr lang="en-US" sz="2400" dirty="0" err="1"/>
              <a:t>Figma</a:t>
            </a:r>
            <a:r>
              <a:rPr lang="en-US" sz="2400" dirty="0"/>
              <a:t> design </a:t>
            </a:r>
          </a:p>
          <a:p>
            <a:r>
              <a:rPr lang="en-US" sz="2400" dirty="0"/>
              <a:t>- Uses modular components and reusable styles</a:t>
            </a:r>
          </a:p>
          <a:p>
            <a:r>
              <a:rPr lang="en-US" sz="2400" dirty="0"/>
              <a:t>- Lazy loading with </a:t>
            </a:r>
            <a:r>
              <a:rPr lang="en-US" sz="2400" dirty="0" err="1"/>
              <a:t>ActivityIndicator</a:t>
            </a:r>
            <a:endParaRPr lang="en-US" sz="2400" dirty="0"/>
          </a:p>
          <a:p>
            <a:r>
              <a:rPr lang="en-US" sz="2400" dirty="0"/>
              <a:t>- Ready for backend with mock APIs and state management</a:t>
            </a:r>
            <a:endParaRPr lang="en-US" sz="24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3920" y="3900755"/>
            <a:ext cx="2181529" cy="4328213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573155" y="1958893"/>
            <a:ext cx="19036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1750" b="1" dirty="0" smtClean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</a:rPr>
              <a:t>Welcome page</a:t>
            </a:r>
            <a:endParaRPr lang="en-US" sz="1750" b="1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562" y="3700564"/>
            <a:ext cx="2076450" cy="4271554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886971" y="3015198"/>
            <a:ext cx="19036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17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</a:rPr>
              <a:t>H</a:t>
            </a:r>
            <a:r>
              <a:rPr lang="en-US" sz="1750" b="1" dirty="0" smtClean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</a:rPr>
              <a:t>ome page</a:t>
            </a:r>
            <a:endParaRPr lang="en-US" sz="1750" b="1" dirty="0"/>
          </a:p>
        </p:txBody>
      </p:sp>
    </p:spTree>
    <p:extLst>
      <p:ext uri="{BB962C8B-B14F-4D97-AF65-F5344CB8AC3E}">
        <p14:creationId xmlns:p14="http://schemas.microsoft.com/office/powerpoint/2010/main" val="21538872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8510" y="238362"/>
            <a:ext cx="79539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</a:rPr>
              <a:t>Frontend Implementation Demo</a:t>
            </a:r>
            <a:endParaRPr lang="en-US" sz="4450" dirty="0"/>
          </a:p>
        </p:txBody>
      </p:sp>
      <p:sp>
        <p:nvSpPr>
          <p:cNvPr id="5" name="Rectangle 4"/>
          <p:cNvSpPr/>
          <p:nvPr/>
        </p:nvSpPr>
        <p:spPr>
          <a:xfrm>
            <a:off x="7315200" y="2860655"/>
            <a:ext cx="73152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- </a:t>
            </a:r>
            <a:r>
              <a:rPr lang="en-US" dirty="0" smtClean="0"/>
              <a:t>Demo shows </a:t>
            </a:r>
            <a:r>
              <a:rPr lang="en-US" dirty="0"/>
              <a:t>app flow and interactivity</a:t>
            </a:r>
          </a:p>
          <a:p>
            <a:r>
              <a:rPr lang="en-US" dirty="0"/>
              <a:t>- Interface follows planned mockups </a:t>
            </a:r>
          </a:p>
          <a:p>
            <a:r>
              <a:rPr lang="en-US" dirty="0"/>
              <a:t>- </a:t>
            </a:r>
            <a:r>
              <a:rPr lang="en-US" sz="1750" dirty="0"/>
              <a:t>Visual</a:t>
            </a:r>
            <a:r>
              <a:rPr lang="en-US" dirty="0"/>
              <a:t> consistency and responsiveness maintained</a:t>
            </a:r>
            <a:endParaRPr lang="en-US" dirty="0"/>
          </a:p>
        </p:txBody>
      </p:sp>
      <p:pic>
        <p:nvPicPr>
          <p:cNvPr id="6" name="videocef44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82040" y="1057275"/>
            <a:ext cx="5623560" cy="611505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2080" y="6598920"/>
            <a:ext cx="1798320" cy="163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28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8114"/>
            <a:ext cx="75646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Implementation Challenges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338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Flutter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1501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Initially planned to use Flutter but encountered hardware limitations: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448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Low RAM capacity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8708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Slower processors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7292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Limited storage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333869"/>
            <a:ext cx="29145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React Native Benefits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9150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Switched to React Native with Expo for: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48198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Lightweight development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9241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Easy device testing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36638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Less computational strain</a:t>
            </a:r>
            <a:endParaRPr lang="en-US" sz="17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xmlns="" id="{A691458A-5244-A2D5-8202-4D20A3598004}"/>
              </a:ext>
            </a:extLst>
          </p:cNvPr>
          <p:cNvSpPr/>
          <p:nvPr/>
        </p:nvSpPr>
        <p:spPr>
          <a:xfrm>
            <a:off x="12730163" y="7794783"/>
            <a:ext cx="1775698" cy="4304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7430" y="13588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</a:rPr>
              <a:t>Conclusion</a:t>
            </a:r>
            <a:endParaRPr lang="en-US" sz="445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139375" y="2572385"/>
            <a:ext cx="7886700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The MFix app frontend is functional, consistent, and ready for full integration.</a:t>
            </a:r>
          </a:p>
          <a:p>
            <a:r>
              <a:rPr lang="en-US" smtClean="0"/>
              <a:t>Our design focused on simplicity, clarity, and real-world usability.</a:t>
            </a:r>
          </a:p>
          <a:p>
            <a:r>
              <a:rPr lang="en-US" smtClean="0"/>
              <a:t>The demo will showcase our progress from concept to implementation.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900" y="0"/>
            <a:ext cx="40005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8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6114" y="3581400"/>
            <a:ext cx="3862685" cy="1356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550" b="1" dirty="0" smtClean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</a:rPr>
              <a:t>THANK YOU</a:t>
            </a:r>
            <a:endParaRPr lang="en-US" sz="4550" b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2080" y="6598920"/>
            <a:ext cx="1798320" cy="163068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98320" cy="163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473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465</Words>
  <Application>Microsoft Office PowerPoint</Application>
  <PresentationFormat>Personnalisé</PresentationFormat>
  <Paragraphs>86</Paragraphs>
  <Slides>12</Slides>
  <Notes>7</Notes>
  <HiddenSlides>0</HiddenSlides>
  <MMClips>1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Noto Serif</vt:lpstr>
      <vt:lpstr>Noto Serif Medium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SOP TECH</cp:lastModifiedBy>
  <cp:revision>12</cp:revision>
  <dcterms:created xsi:type="dcterms:W3CDTF">2025-06-02T18:39:54Z</dcterms:created>
  <dcterms:modified xsi:type="dcterms:W3CDTF">2025-06-02T20:03:42Z</dcterms:modified>
</cp:coreProperties>
</file>