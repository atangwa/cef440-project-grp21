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57" autoAdjust="0"/>
    <p:restoredTop sz="94610"/>
  </p:normalViewPr>
  <p:slideViewPr>
    <p:cSldViewPr snapToGrid="0" snapToObjects="1">
      <p:cViewPr>
        <p:scale>
          <a:sx n="66" d="100"/>
          <a:sy n="66" d="100"/>
        </p:scale>
        <p:origin x="462"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747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MFix: Car Fault Diagnostic Mobile Application</a:t>
            </a:r>
            <a:endParaRPr lang="en-US" sz="4450"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A mobile-based solution that empowers car owners to diagnose vehicle faults using only their smartphone's camera and microphone. Developed by Group 21</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3790" y="84117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The Problem: Inaccessible Vehicle Diagnostics</a:t>
            </a:r>
            <a:endParaRPr lang="en-US" sz="4450" dirty="0"/>
          </a:p>
        </p:txBody>
      </p:sp>
      <p:sp>
        <p:nvSpPr>
          <p:cNvPr id="4" name="Shape 1"/>
          <p:cNvSpPr/>
          <p:nvPr/>
        </p:nvSpPr>
        <p:spPr>
          <a:xfrm>
            <a:off x="793790" y="2598896"/>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5" name="Text 2"/>
          <p:cNvSpPr/>
          <p:nvPr/>
        </p:nvSpPr>
        <p:spPr>
          <a:xfrm>
            <a:off x="1530906" y="2676763"/>
            <a:ext cx="4889063"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Expensive Hardware Requirements</a:t>
            </a:r>
            <a:endParaRPr lang="en-US" sz="2200" dirty="0"/>
          </a:p>
        </p:txBody>
      </p:sp>
      <p:sp>
        <p:nvSpPr>
          <p:cNvPr id="6" name="Text 3"/>
          <p:cNvSpPr/>
          <p:nvPr/>
        </p:nvSpPr>
        <p:spPr>
          <a:xfrm>
            <a:off x="1530906" y="3167182"/>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Traditional vehicle diagnostics require specialized OBD-II scanners that are costly and inaccessible to everyday users.</a:t>
            </a:r>
            <a:endParaRPr lang="en-US" sz="1750" dirty="0"/>
          </a:p>
        </p:txBody>
      </p:sp>
      <p:sp>
        <p:nvSpPr>
          <p:cNvPr id="7" name="Shape 4"/>
          <p:cNvSpPr/>
          <p:nvPr/>
        </p:nvSpPr>
        <p:spPr>
          <a:xfrm>
            <a:off x="793790" y="4346615"/>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8" name="Text 5"/>
          <p:cNvSpPr/>
          <p:nvPr/>
        </p:nvSpPr>
        <p:spPr>
          <a:xfrm>
            <a:off x="1530906" y="4424482"/>
            <a:ext cx="3999190"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Technical Knowledge Barrier</a:t>
            </a:r>
            <a:endParaRPr lang="en-US" sz="2200" dirty="0"/>
          </a:p>
        </p:txBody>
      </p:sp>
      <p:sp>
        <p:nvSpPr>
          <p:cNvPr id="9" name="Text 6"/>
          <p:cNvSpPr/>
          <p:nvPr/>
        </p:nvSpPr>
        <p:spPr>
          <a:xfrm>
            <a:off x="1530906" y="4914900"/>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Most car owners lack the expertise to interpret dashboard warning lights or engine sounds.</a:t>
            </a:r>
            <a:endParaRPr lang="en-US" sz="1750" dirty="0"/>
          </a:p>
        </p:txBody>
      </p:sp>
      <p:sp>
        <p:nvSpPr>
          <p:cNvPr id="10" name="Shape 7"/>
          <p:cNvSpPr/>
          <p:nvPr/>
        </p:nvSpPr>
        <p:spPr>
          <a:xfrm>
            <a:off x="793790" y="6094333"/>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11" name="Text 8"/>
          <p:cNvSpPr/>
          <p:nvPr/>
        </p:nvSpPr>
        <p:spPr>
          <a:xfrm>
            <a:off x="1530906" y="6172200"/>
            <a:ext cx="3595211"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Limited Access to Services</a:t>
            </a:r>
            <a:endParaRPr lang="en-US" sz="2200" dirty="0"/>
          </a:p>
        </p:txBody>
      </p:sp>
      <p:sp>
        <p:nvSpPr>
          <p:cNvPr id="12" name="Text 9"/>
          <p:cNvSpPr/>
          <p:nvPr/>
        </p:nvSpPr>
        <p:spPr>
          <a:xfrm>
            <a:off x="1530906" y="6662618"/>
            <a:ext cx="6819305"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In developing countries like Cameroon, access to certified diagnostic services is limited.</a:t>
            </a:r>
            <a:endParaRPr lang="en-US" sz="1750" dirty="0"/>
          </a:p>
        </p:txBody>
      </p:sp>
      <p:pic>
        <p:nvPicPr>
          <p:cNvPr id="13" name="Image 0" descr="preencoded.png">
            <a:extLst>
              <a:ext uri="{FF2B5EF4-FFF2-40B4-BE49-F238E27FC236}">
                <a16:creationId xmlns:a16="http://schemas.microsoft.com/office/drawing/2014/main" id="{6B054855-EA9A-9A97-7215-A1D50A34090B}"/>
              </a:ext>
            </a:extLst>
          </p:cNvPr>
          <p:cNvPicPr>
            <a:picLocks noChangeAspect="1"/>
          </p:cNvPicPr>
          <p:nvPr/>
        </p:nvPicPr>
        <p:blipFill>
          <a:blip r:embed="rId3"/>
          <a:stretch>
            <a:fillRect/>
          </a:stretch>
        </p:blipFill>
        <p:spPr>
          <a:xfrm>
            <a:off x="9144000" y="0"/>
            <a:ext cx="5486400" cy="8229600"/>
          </a:xfrm>
          <a:prstGeom prst="rect">
            <a:avLst/>
          </a:prstGeom>
        </p:spPr>
      </p:pic>
      <p:pic>
        <p:nvPicPr>
          <p:cNvPr id="14" name="Image 1" descr="preencoded.png">
            <a:extLst>
              <a:ext uri="{FF2B5EF4-FFF2-40B4-BE49-F238E27FC236}">
                <a16:creationId xmlns:a16="http://schemas.microsoft.com/office/drawing/2014/main" id="{A53FC98C-C958-5D00-E69A-21E993267337}"/>
              </a:ext>
            </a:extLst>
          </p:cNvPr>
          <p:cNvPicPr>
            <a:picLocks noChangeAspect="1"/>
          </p:cNvPicPr>
          <p:nvPr/>
        </p:nvPicPr>
        <p:blipFill>
          <a:blip r:embed="rId4"/>
          <a:stretch>
            <a:fillRect/>
          </a:stretch>
        </p:blipFill>
        <p:spPr>
          <a:xfrm>
            <a:off x="9646920" y="2282190"/>
            <a:ext cx="4480560" cy="36652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1638" y="566976"/>
            <a:ext cx="9635847" cy="644366"/>
          </a:xfrm>
          <a:prstGeom prst="rect">
            <a:avLst/>
          </a:prstGeom>
          <a:noFill/>
          <a:ln/>
        </p:spPr>
        <p:txBody>
          <a:bodyPr wrap="none" lIns="0" tIns="0" rIns="0" bIns="0" rtlCol="0" anchor="t"/>
          <a:lstStyle/>
          <a:p>
            <a:pPr marL="0" indent="0" algn="l">
              <a:lnSpc>
                <a:spcPts val="5050"/>
              </a:lnSpc>
              <a:buNone/>
            </a:pPr>
            <a:r>
              <a:rPr lang="en-US" sz="4050" dirty="0">
                <a:solidFill>
                  <a:srgbClr val="3A3A3A"/>
                </a:solidFill>
                <a:latin typeface="Noto Serif Medium" pitchFamily="34" charset="0"/>
                <a:ea typeface="Noto Serif Medium" pitchFamily="34" charset="-122"/>
                <a:cs typeface="Noto Serif Medium" pitchFamily="34" charset="-120"/>
              </a:rPr>
              <a:t>Our Solution: MFix Mobile Application</a:t>
            </a:r>
            <a:endParaRPr lang="en-US" sz="4050" dirty="0"/>
          </a:p>
        </p:txBody>
      </p:sp>
      <p:sp>
        <p:nvSpPr>
          <p:cNvPr id="3" name="Text 1"/>
          <p:cNvSpPr/>
          <p:nvPr/>
        </p:nvSpPr>
        <p:spPr>
          <a:xfrm>
            <a:off x="721638" y="1706047"/>
            <a:ext cx="6342102" cy="989767"/>
          </a:xfrm>
          <a:prstGeom prst="rect">
            <a:avLst/>
          </a:prstGeom>
          <a:noFill/>
          <a:ln/>
        </p:spPr>
        <p:txBody>
          <a:bodyPr wrap="square" lIns="0" tIns="0" rIns="0" bIns="0" rtlCol="0" anchor="t"/>
          <a:lstStyle/>
          <a:p>
            <a:pPr marL="0" indent="0" algn="l">
              <a:lnSpc>
                <a:spcPts val="2550"/>
              </a:lnSpc>
              <a:buNone/>
            </a:pPr>
            <a:r>
              <a:rPr lang="en-US" sz="1600" dirty="0">
                <a:solidFill>
                  <a:srgbClr val="4C4C4C"/>
                </a:solidFill>
                <a:latin typeface="Noto Serif" pitchFamily="34" charset="0"/>
                <a:ea typeface="Noto Serif" pitchFamily="34" charset="-122"/>
                <a:cs typeface="Noto Serif" pitchFamily="34" charset="-120"/>
              </a:rPr>
              <a:t>MFix is a cross-platform mobile application built with React Native (via Expo) and powered by Firebase Firestore. It enables users to:</a:t>
            </a:r>
            <a:endParaRPr lang="en-US" sz="1600" dirty="0"/>
          </a:p>
        </p:txBody>
      </p:sp>
      <p:sp>
        <p:nvSpPr>
          <p:cNvPr id="4" name="Text 2"/>
          <p:cNvSpPr/>
          <p:nvPr/>
        </p:nvSpPr>
        <p:spPr>
          <a:xfrm>
            <a:off x="721638" y="2881313"/>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C4C4C"/>
                </a:solidFill>
                <a:latin typeface="Noto Serif" pitchFamily="34" charset="0"/>
                <a:ea typeface="Noto Serif" pitchFamily="34" charset="-122"/>
                <a:cs typeface="Noto Serif" pitchFamily="34" charset="-120"/>
              </a:rPr>
              <a:t>Scan dashboard warning lights</a:t>
            </a:r>
            <a:endParaRPr lang="en-US" sz="1600" dirty="0"/>
          </a:p>
        </p:txBody>
      </p:sp>
      <p:sp>
        <p:nvSpPr>
          <p:cNvPr id="5" name="Text 3"/>
          <p:cNvSpPr/>
          <p:nvPr/>
        </p:nvSpPr>
        <p:spPr>
          <a:xfrm>
            <a:off x="721638" y="3283387"/>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C4C4C"/>
                </a:solidFill>
                <a:latin typeface="Noto Serif" pitchFamily="34" charset="0"/>
                <a:ea typeface="Noto Serif" pitchFamily="34" charset="-122"/>
                <a:cs typeface="Noto Serif" pitchFamily="34" charset="-120"/>
              </a:rPr>
              <a:t>Record and analyze engine sounds for fault detection</a:t>
            </a:r>
            <a:endParaRPr lang="en-US" sz="1600" dirty="0"/>
          </a:p>
        </p:txBody>
      </p:sp>
      <p:sp>
        <p:nvSpPr>
          <p:cNvPr id="6" name="Text 4"/>
          <p:cNvSpPr/>
          <p:nvPr/>
        </p:nvSpPr>
        <p:spPr>
          <a:xfrm>
            <a:off x="721638" y="3685461"/>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C4C4C"/>
                </a:solidFill>
                <a:latin typeface="Noto Serif" pitchFamily="34" charset="0"/>
                <a:ea typeface="Noto Serif" pitchFamily="34" charset="-122"/>
                <a:cs typeface="Noto Serif" pitchFamily="34" charset="-120"/>
              </a:rPr>
              <a:t>Receive real-time diagnostic feedback and recommendations</a:t>
            </a:r>
            <a:endParaRPr lang="en-US" sz="1600" dirty="0"/>
          </a:p>
        </p:txBody>
      </p:sp>
      <p:sp>
        <p:nvSpPr>
          <p:cNvPr id="7" name="Text 5"/>
          <p:cNvSpPr/>
          <p:nvPr/>
        </p:nvSpPr>
        <p:spPr>
          <a:xfrm>
            <a:off x="721638" y="4087535"/>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C4C4C"/>
                </a:solidFill>
                <a:latin typeface="Noto Serif" pitchFamily="34" charset="0"/>
                <a:ea typeface="Noto Serif" pitchFamily="34" charset="-122"/>
                <a:cs typeface="Noto Serif" pitchFamily="34" charset="-120"/>
              </a:rPr>
              <a:t>Access educational video tutorials for repairs</a:t>
            </a:r>
            <a:endParaRPr lang="en-US" sz="1600" dirty="0"/>
          </a:p>
        </p:txBody>
      </p:sp>
      <p:sp>
        <p:nvSpPr>
          <p:cNvPr id="8" name="Text 6"/>
          <p:cNvSpPr/>
          <p:nvPr/>
        </p:nvSpPr>
        <p:spPr>
          <a:xfrm>
            <a:off x="721638" y="4489609"/>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C4C4C"/>
                </a:solidFill>
                <a:latin typeface="Noto Serif" pitchFamily="34" charset="0"/>
                <a:ea typeface="Noto Serif" pitchFamily="34" charset="-122"/>
                <a:cs typeface="Noto Serif" pitchFamily="34" charset="-120"/>
              </a:rPr>
              <a:t>Connect with mechanics when professional help is needed</a:t>
            </a:r>
            <a:endParaRPr lang="en-US" sz="1600" dirty="0"/>
          </a:p>
        </p:txBody>
      </p:sp>
      <p:pic>
        <p:nvPicPr>
          <p:cNvPr id="9" name="Image 0" descr="preencoded.png"/>
          <p:cNvPicPr>
            <a:picLocks noChangeAspect="1"/>
          </p:cNvPicPr>
          <p:nvPr/>
        </p:nvPicPr>
        <p:blipFill>
          <a:blip r:embed="rId3"/>
          <a:stretch>
            <a:fillRect/>
          </a:stretch>
        </p:blipFill>
        <p:spPr>
          <a:xfrm>
            <a:off x="7574280" y="1752481"/>
            <a:ext cx="6342102" cy="6342102"/>
          </a:xfrm>
          <a:prstGeom prst="rect">
            <a:avLst/>
          </a:prstGeom>
        </p:spPr>
      </p:pic>
      <p:sp>
        <p:nvSpPr>
          <p:cNvPr id="11" name="Rectangle: Rounded Corners 10">
            <a:extLst>
              <a:ext uri="{FF2B5EF4-FFF2-40B4-BE49-F238E27FC236}">
                <a16:creationId xmlns:a16="http://schemas.microsoft.com/office/drawing/2014/main" id="{3FC64E2E-075B-FEC7-4875-6DF6E6D49348}"/>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2893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OBJECTIVES</a:t>
            </a:r>
            <a:endParaRPr lang="en-US" sz="4450" dirty="0"/>
          </a:p>
        </p:txBody>
      </p:sp>
      <p:sp>
        <p:nvSpPr>
          <p:cNvPr id="3" name="Text 1"/>
          <p:cNvSpPr/>
          <p:nvPr/>
        </p:nvSpPr>
        <p:spPr>
          <a:xfrm>
            <a:off x="793790" y="2977872"/>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3A3A3A"/>
                </a:solidFill>
                <a:latin typeface="Noto Serif Medium" pitchFamily="34" charset="0"/>
                <a:ea typeface="Noto Serif Medium" pitchFamily="34" charset="-122"/>
                <a:cs typeface="Noto Serif Medium" pitchFamily="34" charset="-120"/>
              </a:rPr>
              <a:t>General Objective</a:t>
            </a:r>
            <a:endParaRPr lang="en-US" sz="2650" dirty="0"/>
          </a:p>
        </p:txBody>
      </p:sp>
      <p:sp>
        <p:nvSpPr>
          <p:cNvPr id="4" name="Text 2"/>
          <p:cNvSpPr/>
          <p:nvPr/>
        </p:nvSpPr>
        <p:spPr>
          <a:xfrm>
            <a:off x="793790" y="3743325"/>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The general objective of this project is to </a:t>
            </a:r>
            <a:r>
              <a:rPr lang="en-US" sz="1750" b="1" dirty="0">
                <a:solidFill>
                  <a:srgbClr val="4C4C4C"/>
                </a:solidFill>
                <a:latin typeface="Noto Serif" pitchFamily="34" charset="0"/>
                <a:ea typeface="Noto Serif" pitchFamily="34" charset="-122"/>
                <a:cs typeface="Noto Serif" pitchFamily="34" charset="-120"/>
              </a:rPr>
              <a:t>design and implement an AI powered car diagnostic mobile application, </a:t>
            </a:r>
            <a:r>
              <a:rPr lang="en-US" sz="1750" dirty="0">
                <a:solidFill>
                  <a:srgbClr val="4C4C4C"/>
                </a:solidFill>
                <a:latin typeface="Noto Serif" pitchFamily="34" charset="0"/>
                <a:ea typeface="Noto Serif" pitchFamily="34" charset="-122"/>
                <a:cs typeface="Noto Serif" pitchFamily="34" charset="-120"/>
              </a:rPr>
              <a:t>this app enables car owners to diagnose vehicle faults by recognizing dashboard warning lights and analyzing engine sounds, using only their smartphone’s camera and microphone.</a:t>
            </a:r>
            <a:endParaRPr lang="en-US" sz="1750" dirty="0"/>
          </a:p>
        </p:txBody>
      </p:sp>
      <p:sp>
        <p:nvSpPr>
          <p:cNvPr id="5" name="Text 3"/>
          <p:cNvSpPr/>
          <p:nvPr/>
        </p:nvSpPr>
        <p:spPr>
          <a:xfrm>
            <a:off x="793790" y="5172194"/>
            <a:ext cx="3402330" cy="425291"/>
          </a:xfrm>
          <a:prstGeom prst="rect">
            <a:avLst/>
          </a:prstGeom>
          <a:noFill/>
          <a:ln/>
        </p:spPr>
        <p:txBody>
          <a:bodyPr wrap="none" lIns="0" tIns="0" rIns="0" bIns="0" rtlCol="0" anchor="t"/>
          <a:lstStyle/>
          <a:p>
            <a:pPr marL="0" indent="0" algn="l">
              <a:lnSpc>
                <a:spcPts val="3300"/>
              </a:lnSpc>
              <a:buNone/>
            </a:pPr>
            <a:endParaRPr lang="en-US" sz="2650" dirty="0"/>
          </a:p>
        </p:txBody>
      </p:sp>
      <p:sp>
        <p:nvSpPr>
          <p:cNvPr id="6" name="Text 4"/>
          <p:cNvSpPr/>
          <p:nvPr/>
        </p:nvSpPr>
        <p:spPr>
          <a:xfrm>
            <a:off x="793790" y="5937647"/>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Rectangle: Rounded Corners 6">
            <a:extLst>
              <a:ext uri="{FF2B5EF4-FFF2-40B4-BE49-F238E27FC236}">
                <a16:creationId xmlns:a16="http://schemas.microsoft.com/office/drawing/2014/main" id="{633191E0-9A91-A181-8C48-8096920480D9}"/>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659" y="706041"/>
            <a:ext cx="2994422" cy="374213"/>
          </a:xfrm>
          <a:prstGeom prst="rect">
            <a:avLst/>
          </a:prstGeom>
          <a:noFill/>
          <a:ln/>
        </p:spPr>
        <p:txBody>
          <a:bodyPr wrap="none" lIns="0" tIns="0" rIns="0" bIns="0" rtlCol="0" anchor="t"/>
          <a:lstStyle/>
          <a:p>
            <a:pPr marL="0" indent="0" algn="l">
              <a:lnSpc>
                <a:spcPts val="2900"/>
              </a:lnSpc>
              <a:buNone/>
            </a:pPr>
            <a:r>
              <a:rPr lang="en-US" sz="2350" dirty="0">
                <a:solidFill>
                  <a:srgbClr val="3A3A3A"/>
                </a:solidFill>
                <a:latin typeface="Noto Serif Medium" pitchFamily="34" charset="0"/>
                <a:ea typeface="Noto Serif Medium" pitchFamily="34" charset="-122"/>
                <a:cs typeface="Noto Serif Medium" pitchFamily="34" charset="-120"/>
              </a:rPr>
              <a:t>Specific objectives</a:t>
            </a:r>
            <a:endParaRPr lang="en-US" sz="2350" dirty="0"/>
          </a:p>
        </p:txBody>
      </p:sp>
      <p:sp>
        <p:nvSpPr>
          <p:cNvPr id="3" name="Text 1"/>
          <p:cNvSpPr/>
          <p:nvPr/>
        </p:nvSpPr>
        <p:spPr>
          <a:xfrm>
            <a:off x="698659" y="1479471"/>
            <a:ext cx="13233083" cy="638889"/>
          </a:xfrm>
          <a:prstGeom prst="rect">
            <a:avLst/>
          </a:prstGeom>
          <a:noFill/>
          <a:ln/>
        </p:spPr>
        <p:txBody>
          <a:bodyPr wrap="squar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develop a mobile application</a:t>
            </a:r>
            <a:r>
              <a:rPr lang="en-US" sz="1550" dirty="0">
                <a:solidFill>
                  <a:srgbClr val="4C4C4C"/>
                </a:solidFill>
                <a:latin typeface="Noto Serif" pitchFamily="34" charset="0"/>
                <a:ea typeface="Noto Serif" pitchFamily="34" charset="-122"/>
                <a:cs typeface="Noto Serif" pitchFamily="34" charset="-120"/>
              </a:rPr>
              <a:t> using React Native (Expo) that allows users to scan their vehicle’s dashboard and record engine sounds directly from their smartphone.</a:t>
            </a:r>
            <a:endParaRPr lang="en-US" sz="1550" dirty="0"/>
          </a:p>
        </p:txBody>
      </p:sp>
      <p:sp>
        <p:nvSpPr>
          <p:cNvPr id="4" name="Text 2"/>
          <p:cNvSpPr/>
          <p:nvPr/>
        </p:nvSpPr>
        <p:spPr>
          <a:xfrm>
            <a:off x="698659" y="2342912"/>
            <a:ext cx="13233083" cy="638889"/>
          </a:xfrm>
          <a:prstGeom prst="rect">
            <a:avLst/>
          </a:prstGeom>
          <a:noFill/>
          <a:ln/>
        </p:spPr>
        <p:txBody>
          <a:bodyPr wrap="squar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implement computer vision techniques</a:t>
            </a:r>
            <a:r>
              <a:rPr lang="en-US" sz="1550" dirty="0">
                <a:solidFill>
                  <a:srgbClr val="4C4C4C"/>
                </a:solidFill>
                <a:latin typeface="Noto Serif" pitchFamily="34" charset="0"/>
                <a:ea typeface="Noto Serif" pitchFamily="34" charset="-122"/>
                <a:cs typeface="Noto Serif" pitchFamily="34" charset="-120"/>
              </a:rPr>
              <a:t> capable of detecting and recognizing multiple dashboard warning lights from captured images, even when several indicators are active at once.</a:t>
            </a:r>
            <a:endParaRPr lang="en-US" sz="1550" dirty="0"/>
          </a:p>
        </p:txBody>
      </p:sp>
      <p:sp>
        <p:nvSpPr>
          <p:cNvPr id="5" name="Text 3"/>
          <p:cNvSpPr/>
          <p:nvPr/>
        </p:nvSpPr>
        <p:spPr>
          <a:xfrm>
            <a:off x="698659" y="3206353"/>
            <a:ext cx="13233083" cy="638889"/>
          </a:xfrm>
          <a:prstGeom prst="rect">
            <a:avLst/>
          </a:prstGeom>
          <a:noFill/>
          <a:ln/>
        </p:spPr>
        <p:txBody>
          <a:bodyPr wrap="squar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integrate machine learning or deep learning models</a:t>
            </a:r>
            <a:r>
              <a:rPr lang="en-US" sz="1550" dirty="0">
                <a:solidFill>
                  <a:srgbClr val="4C4C4C"/>
                </a:solidFill>
                <a:latin typeface="Noto Serif" pitchFamily="34" charset="0"/>
                <a:ea typeface="Noto Serif" pitchFamily="34" charset="-122"/>
                <a:cs typeface="Noto Serif" pitchFamily="34" charset="-120"/>
              </a:rPr>
              <a:t> that can analyze recorded engine sounds and classify them against known fault types such as knocking, squealing, or hissing.</a:t>
            </a:r>
            <a:endParaRPr lang="en-US" sz="1550" dirty="0"/>
          </a:p>
        </p:txBody>
      </p:sp>
      <p:sp>
        <p:nvSpPr>
          <p:cNvPr id="6" name="Text 4"/>
          <p:cNvSpPr/>
          <p:nvPr/>
        </p:nvSpPr>
        <p:spPr>
          <a:xfrm>
            <a:off x="698659" y="4069794"/>
            <a:ext cx="13233083" cy="319445"/>
          </a:xfrm>
          <a:prstGeom prst="rect">
            <a:avLst/>
          </a:prstGeom>
          <a:noFill/>
          <a:ln/>
        </p:spPr>
        <p:txBody>
          <a:bodyPr wrap="non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provide automatic explanations</a:t>
            </a:r>
            <a:r>
              <a:rPr lang="en-US" sz="1550" dirty="0">
                <a:solidFill>
                  <a:srgbClr val="4C4C4C"/>
                </a:solidFill>
                <a:latin typeface="Noto Serif" pitchFamily="34" charset="0"/>
                <a:ea typeface="Noto Serif" pitchFamily="34" charset="-122"/>
                <a:cs typeface="Noto Serif" pitchFamily="34" charset="-120"/>
              </a:rPr>
              <a:t> of detected warning symbols, including their causes, urgency level, and consequences of neglect.</a:t>
            </a:r>
            <a:endParaRPr lang="en-US" sz="1550" dirty="0"/>
          </a:p>
        </p:txBody>
      </p:sp>
      <p:sp>
        <p:nvSpPr>
          <p:cNvPr id="7" name="Text 5"/>
          <p:cNvSpPr/>
          <p:nvPr/>
        </p:nvSpPr>
        <p:spPr>
          <a:xfrm>
            <a:off x="698659" y="4613791"/>
            <a:ext cx="13233083" cy="319445"/>
          </a:xfrm>
          <a:prstGeom prst="rect">
            <a:avLst/>
          </a:prstGeom>
          <a:noFill/>
          <a:ln/>
        </p:spPr>
        <p:txBody>
          <a:bodyPr wrap="non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generate a list of likely mechanical issues</a:t>
            </a:r>
            <a:r>
              <a:rPr lang="en-US" sz="1550" dirty="0">
                <a:solidFill>
                  <a:srgbClr val="4C4C4C"/>
                </a:solidFill>
                <a:latin typeface="Noto Serif" pitchFamily="34" charset="0"/>
                <a:ea typeface="Noto Serif" pitchFamily="34" charset="-122"/>
                <a:cs typeface="Noto Serif" pitchFamily="34" charset="-120"/>
              </a:rPr>
              <a:t> along with suggested repair actions, general maintenance advice, and urgency levels.</a:t>
            </a:r>
            <a:endParaRPr lang="en-US" sz="1550" dirty="0"/>
          </a:p>
        </p:txBody>
      </p:sp>
      <p:sp>
        <p:nvSpPr>
          <p:cNvPr id="8" name="Text 6"/>
          <p:cNvSpPr/>
          <p:nvPr/>
        </p:nvSpPr>
        <p:spPr>
          <a:xfrm>
            <a:off x="698659" y="5157788"/>
            <a:ext cx="13233083" cy="638889"/>
          </a:xfrm>
          <a:prstGeom prst="rect">
            <a:avLst/>
          </a:prstGeom>
          <a:noFill/>
          <a:ln/>
        </p:spPr>
        <p:txBody>
          <a:bodyPr wrap="squar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integrate YouTube Data API v3</a:t>
            </a:r>
            <a:r>
              <a:rPr lang="en-US" sz="1550" dirty="0">
                <a:solidFill>
                  <a:srgbClr val="4C4C4C"/>
                </a:solidFill>
                <a:latin typeface="Noto Serif" pitchFamily="34" charset="0"/>
                <a:ea typeface="Noto Serif" pitchFamily="34" charset="-122"/>
                <a:cs typeface="Noto Serif" pitchFamily="34" charset="-120"/>
              </a:rPr>
              <a:t> to fetch video tutorials from verified automotive experts, helping users understand step-by-step maintenance procedures for diagnosed issues.</a:t>
            </a:r>
            <a:endParaRPr lang="en-US" sz="1550" dirty="0"/>
          </a:p>
        </p:txBody>
      </p:sp>
      <p:sp>
        <p:nvSpPr>
          <p:cNvPr id="9" name="Text 7"/>
          <p:cNvSpPr/>
          <p:nvPr/>
        </p:nvSpPr>
        <p:spPr>
          <a:xfrm>
            <a:off x="698659" y="6021229"/>
            <a:ext cx="13233083" cy="638889"/>
          </a:xfrm>
          <a:prstGeom prst="rect">
            <a:avLst/>
          </a:prstGeom>
          <a:noFill/>
          <a:ln/>
        </p:spPr>
        <p:txBody>
          <a:bodyPr wrap="square" lIns="0" tIns="0" rIns="0" bIns="0" rtlCol="0" anchor="t"/>
          <a:lstStyle/>
          <a:p>
            <a:pPr marL="0" indent="0" algn="l">
              <a:lnSpc>
                <a:spcPts val="2500"/>
              </a:lnSpc>
              <a:buNone/>
            </a:pPr>
            <a:r>
              <a:rPr lang="en-US" sz="1550" dirty="0">
                <a:solidFill>
                  <a:srgbClr val="4C4C4C"/>
                </a:solidFill>
                <a:latin typeface="Noto Serif" pitchFamily="34" charset="0"/>
                <a:ea typeface="Noto Serif" pitchFamily="34" charset="-122"/>
                <a:cs typeface="Noto Serif" pitchFamily="34" charset="-120"/>
              </a:rPr>
              <a:t>Ø </a:t>
            </a:r>
            <a:r>
              <a:rPr lang="en-US" sz="1550" b="1" dirty="0">
                <a:solidFill>
                  <a:srgbClr val="4C4C4C"/>
                </a:solidFill>
                <a:latin typeface="Noto Serif" pitchFamily="34" charset="0"/>
                <a:ea typeface="Noto Serif" pitchFamily="34" charset="-122"/>
                <a:cs typeface="Noto Serif" pitchFamily="34" charset="-120"/>
              </a:rPr>
              <a:t>To ensure basic offline functionality</a:t>
            </a:r>
            <a:r>
              <a:rPr lang="en-US" sz="1550" dirty="0">
                <a:solidFill>
                  <a:srgbClr val="4C4C4C"/>
                </a:solidFill>
                <a:latin typeface="Noto Serif" pitchFamily="34" charset="0"/>
                <a:ea typeface="Noto Serif" pitchFamily="34" charset="-122"/>
                <a:cs typeface="Noto Serif" pitchFamily="34" charset="-120"/>
              </a:rPr>
              <a:t> by embedding pre-trained diagnostic models and symbol data for use without an internet connection.</a:t>
            </a:r>
            <a:endParaRPr lang="en-US" sz="1550" dirty="0"/>
          </a:p>
        </p:txBody>
      </p:sp>
      <p:sp>
        <p:nvSpPr>
          <p:cNvPr id="10" name="Text 8"/>
          <p:cNvSpPr/>
          <p:nvPr/>
        </p:nvSpPr>
        <p:spPr>
          <a:xfrm>
            <a:off x="698659" y="6884670"/>
            <a:ext cx="13233083" cy="638889"/>
          </a:xfrm>
          <a:prstGeom prst="rect">
            <a:avLst/>
          </a:prstGeom>
          <a:noFill/>
          <a:ln/>
        </p:spPr>
        <p:txBody>
          <a:bodyPr wrap="square" lIns="0" tIns="0" rIns="0" bIns="0" rtlCol="0" anchor="t"/>
          <a:lstStyle/>
          <a:p>
            <a:pPr marL="0" indent="0" algn="l">
              <a:lnSpc>
                <a:spcPts val="2500"/>
              </a:lnSpc>
              <a:buNone/>
            </a:pPr>
            <a:r>
              <a:rPr lang="en-US" sz="1550" b="1" dirty="0">
                <a:solidFill>
                  <a:srgbClr val="4C4C4C"/>
                </a:solidFill>
                <a:latin typeface="Noto Serif" pitchFamily="34" charset="0"/>
                <a:ea typeface="Noto Serif" pitchFamily="34" charset="-122"/>
                <a:cs typeface="Noto Serif" pitchFamily="34" charset="-120"/>
              </a:rPr>
              <a:t>To enable online capabilities</a:t>
            </a:r>
            <a:r>
              <a:rPr lang="en-US" sz="1550" dirty="0">
                <a:solidFill>
                  <a:srgbClr val="4C4C4C"/>
                </a:solidFill>
                <a:latin typeface="Noto Serif" pitchFamily="34" charset="0"/>
                <a:ea typeface="Noto Serif" pitchFamily="34" charset="-122"/>
                <a:cs typeface="Noto Serif" pitchFamily="34" charset="-120"/>
              </a:rPr>
              <a:t> such as accessing the latest fault databases, retrieving updated explanations, and streaming or embedding relevant video content</a:t>
            </a:r>
            <a:endParaRPr lang="en-US" sz="1550" dirty="0"/>
          </a:p>
        </p:txBody>
      </p:sp>
      <p:sp>
        <p:nvSpPr>
          <p:cNvPr id="11" name="Rectangle: Rounded Corners 10">
            <a:extLst>
              <a:ext uri="{FF2B5EF4-FFF2-40B4-BE49-F238E27FC236}">
                <a16:creationId xmlns:a16="http://schemas.microsoft.com/office/drawing/2014/main" id="{62FDD4B3-6892-EBAC-02CF-3393566B010F}"/>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878693"/>
            <a:ext cx="6513909" cy="566976"/>
          </a:xfrm>
          <a:prstGeom prst="rect">
            <a:avLst/>
          </a:prstGeom>
          <a:noFill/>
          <a:ln/>
        </p:spPr>
        <p:txBody>
          <a:bodyPr wrap="none" lIns="0" tIns="0" rIns="0" bIns="0" rtlCol="0" anchor="t"/>
          <a:lstStyle/>
          <a:p>
            <a:pPr marL="0" indent="0" algn="l">
              <a:lnSpc>
                <a:spcPts val="4450"/>
              </a:lnSpc>
              <a:buNone/>
            </a:pPr>
            <a:r>
              <a:rPr lang="en-US" sz="3550" b="1" dirty="0">
                <a:solidFill>
                  <a:srgbClr val="3A3A3A"/>
                </a:solidFill>
                <a:latin typeface="Noto Serif Medium" pitchFamily="34" charset="0"/>
                <a:ea typeface="Noto Serif Medium" pitchFamily="34" charset="-122"/>
                <a:cs typeface="Noto Serif Medium" pitchFamily="34" charset="-120"/>
              </a:rPr>
              <a:t> PROPOSED METHODOLOGY</a:t>
            </a:r>
            <a:endParaRPr lang="en-US" sz="3550" dirty="0"/>
          </a:p>
        </p:txBody>
      </p:sp>
      <p:sp>
        <p:nvSpPr>
          <p:cNvPr id="3" name="Text 1"/>
          <p:cNvSpPr/>
          <p:nvPr/>
        </p:nvSpPr>
        <p:spPr>
          <a:xfrm>
            <a:off x="793790" y="3899297"/>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To achieve the stated objectives, this study adopts a modular and iterative methodology combining mobile development, cloud-based services, and AI integration. The approach is structured into logical phases that support continuous testing, validation, and refinement of each system component. Each phase focuses on implementing specific features of the MFix diagnostic application in alignment with the user's needs and the system's functional requirements.</a:t>
            </a:r>
            <a:endParaRPr lang="en-US" sz="1750" dirty="0"/>
          </a:p>
        </p:txBody>
      </p:sp>
      <p:sp>
        <p:nvSpPr>
          <p:cNvPr id="4" name="Rectangle: Rounded Corners 3">
            <a:extLst>
              <a:ext uri="{FF2B5EF4-FFF2-40B4-BE49-F238E27FC236}">
                <a16:creationId xmlns:a16="http://schemas.microsoft.com/office/drawing/2014/main" id="{94AC4F36-7B5B-4CDC-D549-435ABE1C493F}"/>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807732"/>
            <a:ext cx="8039814" cy="708779"/>
          </a:xfrm>
          <a:prstGeom prst="rect">
            <a:avLst/>
          </a:prstGeom>
          <a:noFill/>
          <a:ln/>
        </p:spPr>
        <p:txBody>
          <a:bodyPr wrap="none" lIns="0" tIns="0" rIns="0" bIns="0" rtlCol="0" anchor="t"/>
          <a:lstStyle/>
          <a:p>
            <a:pPr marL="0" indent="0" algn="l">
              <a:lnSpc>
                <a:spcPts val="5550"/>
              </a:lnSpc>
              <a:buNone/>
            </a:pPr>
            <a:r>
              <a:rPr lang="en-US" sz="4450" b="1" dirty="0">
                <a:solidFill>
                  <a:srgbClr val="3A3A3A"/>
                </a:solidFill>
                <a:latin typeface="Noto Serif Medium" pitchFamily="34" charset="0"/>
                <a:ea typeface="Noto Serif Medium" pitchFamily="34" charset="-122"/>
                <a:cs typeface="Noto Serif Medium" pitchFamily="34" charset="-120"/>
              </a:rPr>
              <a:t>System Design and Planning</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The project begins with the definition of functional and non-functional requirements, identification of core use cases, and development of user interface designs using </a:t>
            </a:r>
            <a:r>
              <a:rPr lang="en-US" sz="1750" b="1" dirty="0">
                <a:solidFill>
                  <a:srgbClr val="4C4C4C"/>
                </a:solidFill>
                <a:latin typeface="Noto Serif" pitchFamily="34" charset="0"/>
                <a:ea typeface="Noto Serif" pitchFamily="34" charset="-122"/>
                <a:cs typeface="Noto Serif" pitchFamily="34" charset="-120"/>
              </a:rPr>
              <a:t>Figma</a:t>
            </a:r>
            <a:r>
              <a:rPr lang="en-US" sz="1750" dirty="0">
                <a:solidFill>
                  <a:srgbClr val="4C4C4C"/>
                </a:solidFill>
                <a:latin typeface="Noto Serif" pitchFamily="34" charset="0"/>
                <a:ea typeface="Noto Serif" pitchFamily="34" charset="-122"/>
                <a:cs typeface="Noto Serif" pitchFamily="34" charset="-120"/>
              </a:rPr>
              <a:t>. These designs follow mobile UI/UX principles and reflect the user's interaction flow. A high-level system architecture is then designed, outlining the integration of the frontend (mobile app), backend server, AI services, and database components</a:t>
            </a:r>
            <a:endParaRPr lang="en-US" sz="1750" dirty="0"/>
          </a:p>
        </p:txBody>
      </p:sp>
      <p:sp>
        <p:nvSpPr>
          <p:cNvPr id="4" name="Rectangle: Rounded Corners 3">
            <a:extLst>
              <a:ext uri="{FF2B5EF4-FFF2-40B4-BE49-F238E27FC236}">
                <a16:creationId xmlns:a16="http://schemas.microsoft.com/office/drawing/2014/main" id="{3704E314-088B-62DE-F8FB-6B8C1F5F7222}"/>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878693"/>
            <a:ext cx="6513909" cy="566976"/>
          </a:xfrm>
          <a:prstGeom prst="rect">
            <a:avLst/>
          </a:prstGeom>
          <a:noFill/>
          <a:ln/>
        </p:spPr>
        <p:txBody>
          <a:bodyPr wrap="none" lIns="0" tIns="0" rIns="0" bIns="0" rtlCol="0" anchor="t"/>
          <a:lstStyle/>
          <a:p>
            <a:pPr marL="0" indent="0" algn="l">
              <a:lnSpc>
                <a:spcPts val="4450"/>
              </a:lnSpc>
              <a:buNone/>
            </a:pPr>
            <a:r>
              <a:rPr lang="en-US" sz="3550" b="1" dirty="0">
                <a:solidFill>
                  <a:srgbClr val="3A3A3A"/>
                </a:solidFill>
                <a:latin typeface="Noto Serif Medium" pitchFamily="34" charset="0"/>
                <a:ea typeface="Noto Serif Medium" pitchFamily="34" charset="-122"/>
                <a:cs typeface="Noto Serif Medium" pitchFamily="34" charset="-120"/>
              </a:rPr>
              <a:t> PROPOSED METHODOLOGY</a:t>
            </a:r>
            <a:endParaRPr lang="en-US" sz="3550" dirty="0"/>
          </a:p>
        </p:txBody>
      </p:sp>
      <p:sp>
        <p:nvSpPr>
          <p:cNvPr id="3" name="Text 1"/>
          <p:cNvSpPr/>
          <p:nvPr/>
        </p:nvSpPr>
        <p:spPr>
          <a:xfrm>
            <a:off x="793790" y="3899297"/>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The design and analysis of the MFix system followed a structured, iterative approach inspired by the </a:t>
            </a:r>
            <a:r>
              <a:rPr lang="en-US" sz="1750" b="1" dirty="0">
                <a:solidFill>
                  <a:srgbClr val="4C4C4C"/>
                </a:solidFill>
                <a:latin typeface="Noto Serif" pitchFamily="34" charset="0"/>
                <a:ea typeface="Noto Serif" pitchFamily="34" charset="-122"/>
                <a:cs typeface="Noto Serif" pitchFamily="34" charset="-120"/>
              </a:rPr>
              <a:t>Agile methodology</a:t>
            </a:r>
            <a:r>
              <a:rPr lang="en-US" sz="1750" dirty="0">
                <a:solidFill>
                  <a:srgbClr val="4C4C4C"/>
                </a:solidFill>
                <a:latin typeface="Noto Serif" pitchFamily="34" charset="0"/>
                <a:ea typeface="Noto Serif" pitchFamily="34" charset="-122"/>
                <a:cs typeface="Noto Serif" pitchFamily="34" charset="-120"/>
              </a:rPr>
              <a:t>, which emphasizes adaptability, user feedback, and incremental refinement. Although full implementation was covered in later phases, the focus of this chapter is on how the system was conceptualized, modelled, and structured before development.</a:t>
            </a:r>
            <a:endParaRPr lang="en-US" sz="1750" dirty="0"/>
          </a:p>
        </p:txBody>
      </p:sp>
      <p:sp>
        <p:nvSpPr>
          <p:cNvPr id="4" name="Rectangle: Rounded Corners 3">
            <a:extLst>
              <a:ext uri="{FF2B5EF4-FFF2-40B4-BE49-F238E27FC236}">
                <a16:creationId xmlns:a16="http://schemas.microsoft.com/office/drawing/2014/main" id="{AF26C4CB-CEB7-3839-945D-F5725EE10D46}"/>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040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System Architecture</a:t>
            </a:r>
            <a:endParaRPr lang="en-US" sz="4450" dirty="0"/>
          </a:p>
        </p:txBody>
      </p:sp>
      <p:pic>
        <p:nvPicPr>
          <p:cNvPr id="4" name="Image 1" descr="preencoded.png"/>
          <p:cNvPicPr>
            <a:picLocks noChangeAspect="1"/>
          </p:cNvPicPr>
          <p:nvPr/>
        </p:nvPicPr>
        <p:blipFill>
          <a:blip r:embed="rId4"/>
          <a:stretch>
            <a:fillRect/>
          </a:stretch>
        </p:blipFill>
        <p:spPr>
          <a:xfrm>
            <a:off x="6280190" y="1952982"/>
            <a:ext cx="1134070" cy="1669852"/>
          </a:xfrm>
          <a:prstGeom prst="rect">
            <a:avLst/>
          </a:prstGeom>
        </p:spPr>
      </p:pic>
      <p:sp>
        <p:nvSpPr>
          <p:cNvPr id="5" name="Text 1"/>
          <p:cNvSpPr/>
          <p:nvPr/>
        </p:nvSpPr>
        <p:spPr>
          <a:xfrm>
            <a:off x="7641074" y="21797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Presentation Layer</a:t>
            </a:r>
            <a:endParaRPr lang="en-US" sz="2200" dirty="0"/>
          </a:p>
        </p:txBody>
      </p:sp>
      <p:sp>
        <p:nvSpPr>
          <p:cNvPr id="6" name="Text 2"/>
          <p:cNvSpPr/>
          <p:nvPr/>
        </p:nvSpPr>
        <p:spPr>
          <a:xfrm>
            <a:off x="7641074" y="2670215"/>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React Native &amp; Expo frontend handling user interactions, navigation, and visual rendering</a:t>
            </a:r>
            <a:endParaRPr lang="en-US" sz="1750" dirty="0"/>
          </a:p>
        </p:txBody>
      </p:sp>
      <p:pic>
        <p:nvPicPr>
          <p:cNvPr id="7" name="Image 2" descr="preencoded.png"/>
          <p:cNvPicPr>
            <a:picLocks noChangeAspect="1"/>
          </p:cNvPicPr>
          <p:nvPr/>
        </p:nvPicPr>
        <p:blipFill>
          <a:blip r:embed="rId5"/>
          <a:stretch>
            <a:fillRect/>
          </a:stretch>
        </p:blipFill>
        <p:spPr>
          <a:xfrm>
            <a:off x="6280190" y="3622834"/>
            <a:ext cx="1134070" cy="1669852"/>
          </a:xfrm>
          <a:prstGeom prst="rect">
            <a:avLst/>
          </a:prstGeom>
        </p:spPr>
      </p:pic>
      <p:sp>
        <p:nvSpPr>
          <p:cNvPr id="8" name="Text 3"/>
          <p:cNvSpPr/>
          <p:nvPr/>
        </p:nvSpPr>
        <p:spPr>
          <a:xfrm>
            <a:off x="7641074" y="3849648"/>
            <a:ext cx="2862977"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Business Logic Layer</a:t>
            </a:r>
            <a:endParaRPr lang="en-US" sz="2200" dirty="0"/>
          </a:p>
        </p:txBody>
      </p:sp>
      <p:sp>
        <p:nvSpPr>
          <p:cNvPr id="9" name="Text 4"/>
          <p:cNvSpPr/>
          <p:nvPr/>
        </p:nvSpPr>
        <p:spPr>
          <a:xfrm>
            <a:off x="7641074" y="4340066"/>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Node.js &amp; Express.js backend managing processing logic, routing, API definitions, and security</a:t>
            </a:r>
            <a:endParaRPr lang="en-US" sz="1750" dirty="0"/>
          </a:p>
        </p:txBody>
      </p:sp>
      <p:pic>
        <p:nvPicPr>
          <p:cNvPr id="10" name="Image 3" descr="preencoded.png"/>
          <p:cNvPicPr>
            <a:picLocks noChangeAspect="1"/>
          </p:cNvPicPr>
          <p:nvPr/>
        </p:nvPicPr>
        <p:blipFill>
          <a:blip r:embed="rId6"/>
          <a:stretch>
            <a:fillRect/>
          </a:stretch>
        </p:blipFill>
        <p:spPr>
          <a:xfrm>
            <a:off x="6280190" y="5292685"/>
            <a:ext cx="1134070" cy="2032754"/>
          </a:xfrm>
          <a:prstGeom prst="rect">
            <a:avLst/>
          </a:prstGeom>
        </p:spPr>
      </p:pic>
      <p:sp>
        <p:nvSpPr>
          <p:cNvPr id="11" name="Text 5"/>
          <p:cNvSpPr/>
          <p:nvPr/>
        </p:nvSpPr>
        <p:spPr>
          <a:xfrm>
            <a:off x="7641074" y="55194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Data Layer</a:t>
            </a:r>
            <a:endParaRPr lang="en-US" sz="2200" dirty="0"/>
          </a:p>
        </p:txBody>
      </p:sp>
      <p:sp>
        <p:nvSpPr>
          <p:cNvPr id="12" name="Text 6"/>
          <p:cNvSpPr/>
          <p:nvPr/>
        </p:nvSpPr>
        <p:spPr>
          <a:xfrm>
            <a:off x="7641074" y="6009918"/>
            <a:ext cx="6195536" cy="1088708"/>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Firebase Firestore providing scalable NoSQL cloud database for storing users, vehicles, diagnostics, and results</a:t>
            </a:r>
            <a:endParaRPr lang="en-US" sz="1750" dirty="0"/>
          </a:p>
        </p:txBody>
      </p:sp>
      <p:sp>
        <p:nvSpPr>
          <p:cNvPr id="13" name="Rectangle: Rounded Corners 12">
            <a:extLst>
              <a:ext uri="{FF2B5EF4-FFF2-40B4-BE49-F238E27FC236}">
                <a16:creationId xmlns:a16="http://schemas.microsoft.com/office/drawing/2014/main" id="{E86FC52B-3197-39C8-93F5-67FDC267BF53}"/>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64074"/>
            <a:ext cx="7942183"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Key Features &amp; Functionality</a:t>
            </a:r>
            <a:endParaRPr lang="en-US" sz="4450" dirty="0"/>
          </a:p>
        </p:txBody>
      </p:sp>
      <p:pic>
        <p:nvPicPr>
          <p:cNvPr id="3" name="Image 0" descr="preencoded.png"/>
          <p:cNvPicPr>
            <a:picLocks noChangeAspect="1"/>
          </p:cNvPicPr>
          <p:nvPr/>
        </p:nvPicPr>
        <p:blipFill>
          <a:blip r:embed="rId3"/>
          <a:stretch>
            <a:fillRect/>
          </a:stretch>
        </p:blipFill>
        <p:spPr>
          <a:xfrm>
            <a:off x="793790" y="2326481"/>
            <a:ext cx="4158615" cy="2570202"/>
          </a:xfrm>
          <a:prstGeom prst="rect">
            <a:avLst/>
          </a:prstGeom>
        </p:spPr>
      </p:pic>
      <p:sp>
        <p:nvSpPr>
          <p:cNvPr id="4" name="Text 1"/>
          <p:cNvSpPr/>
          <p:nvPr/>
        </p:nvSpPr>
        <p:spPr>
          <a:xfrm>
            <a:off x="793790" y="5123498"/>
            <a:ext cx="3997523"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Dashboard Light Recognition</a:t>
            </a:r>
            <a:endParaRPr lang="en-US" sz="2200" dirty="0"/>
          </a:p>
        </p:txBody>
      </p:sp>
      <p:sp>
        <p:nvSpPr>
          <p:cNvPr id="5" name="Text 2"/>
          <p:cNvSpPr/>
          <p:nvPr/>
        </p:nvSpPr>
        <p:spPr>
          <a:xfrm>
            <a:off x="793790" y="5613916"/>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Uses computer vision to identify warning lights and provide explanations of their meaning and urgency.</a:t>
            </a:r>
            <a:endParaRPr lang="en-US" sz="1750" dirty="0"/>
          </a:p>
        </p:txBody>
      </p:sp>
      <p:pic>
        <p:nvPicPr>
          <p:cNvPr id="6" name="Image 1" descr="preencoded.png"/>
          <p:cNvPicPr>
            <a:picLocks noChangeAspect="1"/>
          </p:cNvPicPr>
          <p:nvPr/>
        </p:nvPicPr>
        <p:blipFill>
          <a:blip r:embed="rId4"/>
          <a:stretch>
            <a:fillRect/>
          </a:stretch>
        </p:blipFill>
        <p:spPr>
          <a:xfrm>
            <a:off x="5235893" y="2326481"/>
            <a:ext cx="4158615" cy="2570202"/>
          </a:xfrm>
          <a:prstGeom prst="rect">
            <a:avLst/>
          </a:prstGeom>
        </p:spPr>
      </p:pic>
      <p:sp>
        <p:nvSpPr>
          <p:cNvPr id="7" name="Text 3"/>
          <p:cNvSpPr/>
          <p:nvPr/>
        </p:nvSpPr>
        <p:spPr>
          <a:xfrm>
            <a:off x="5235893" y="5123498"/>
            <a:ext cx="3120271"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Engine Sound Analysis</a:t>
            </a:r>
            <a:endParaRPr lang="en-US" sz="2200" dirty="0"/>
          </a:p>
        </p:txBody>
      </p:sp>
      <p:sp>
        <p:nvSpPr>
          <p:cNvPr id="8" name="Text 4"/>
          <p:cNvSpPr/>
          <p:nvPr/>
        </p:nvSpPr>
        <p:spPr>
          <a:xfrm>
            <a:off x="5235893" y="5613916"/>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Records and analyzes engine sounds to detect patterns associated with common mechanical issues.</a:t>
            </a:r>
            <a:endParaRPr lang="en-US" sz="1750" dirty="0"/>
          </a:p>
        </p:txBody>
      </p:sp>
      <p:pic>
        <p:nvPicPr>
          <p:cNvPr id="9" name="Image 2" descr="preencoded.png"/>
          <p:cNvPicPr>
            <a:picLocks noChangeAspect="1"/>
          </p:cNvPicPr>
          <p:nvPr/>
        </p:nvPicPr>
        <p:blipFill>
          <a:blip r:embed="rId5"/>
          <a:stretch>
            <a:fillRect/>
          </a:stretch>
        </p:blipFill>
        <p:spPr>
          <a:xfrm>
            <a:off x="9677995" y="2326481"/>
            <a:ext cx="4158615" cy="2570202"/>
          </a:xfrm>
          <a:prstGeom prst="rect">
            <a:avLst/>
          </a:prstGeom>
        </p:spPr>
      </p:pic>
      <p:sp>
        <p:nvSpPr>
          <p:cNvPr id="10" name="Text 5"/>
          <p:cNvSpPr/>
          <p:nvPr/>
        </p:nvSpPr>
        <p:spPr>
          <a:xfrm>
            <a:off x="9677995" y="51234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Video Tutorials</a:t>
            </a:r>
            <a:endParaRPr lang="en-US" sz="2200" dirty="0"/>
          </a:p>
        </p:txBody>
      </p:sp>
      <p:sp>
        <p:nvSpPr>
          <p:cNvPr id="11" name="Text 6"/>
          <p:cNvSpPr/>
          <p:nvPr/>
        </p:nvSpPr>
        <p:spPr>
          <a:xfrm>
            <a:off x="9677995" y="5613916"/>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Integrates with YouTube API to provide relevant repair and maintenance videos from verified automotive experts.</a:t>
            </a:r>
            <a:endParaRPr lang="en-US" sz="1750" dirty="0"/>
          </a:p>
        </p:txBody>
      </p:sp>
      <p:sp>
        <p:nvSpPr>
          <p:cNvPr id="12" name="Rectangle: Rounded Corners 11">
            <a:extLst>
              <a:ext uri="{FF2B5EF4-FFF2-40B4-BE49-F238E27FC236}">
                <a16:creationId xmlns:a16="http://schemas.microsoft.com/office/drawing/2014/main" id="{25E79976-24E5-2C73-6B31-EA8BE3CA519D}"/>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3657" y="537091"/>
            <a:ext cx="5089803" cy="610433"/>
          </a:xfrm>
          <a:prstGeom prst="rect">
            <a:avLst/>
          </a:prstGeom>
          <a:noFill/>
          <a:ln/>
        </p:spPr>
        <p:txBody>
          <a:bodyPr wrap="none" lIns="0" tIns="0" rIns="0" bIns="0" rtlCol="0" anchor="t"/>
          <a:lstStyle/>
          <a:p>
            <a:pPr marL="0" indent="0" algn="l">
              <a:lnSpc>
                <a:spcPts val="4800"/>
              </a:lnSpc>
              <a:buNone/>
            </a:pPr>
            <a:r>
              <a:rPr lang="en-US" sz="3800" dirty="0">
                <a:solidFill>
                  <a:srgbClr val="3A3A3A"/>
                </a:solidFill>
                <a:latin typeface="Noto Serif Medium" pitchFamily="34" charset="0"/>
                <a:ea typeface="Noto Serif Medium" pitchFamily="34" charset="-122"/>
                <a:cs typeface="Noto Serif Medium" pitchFamily="34" charset="-120"/>
              </a:rPr>
              <a:t>User Interface Design</a:t>
            </a:r>
            <a:endParaRPr lang="en-US" sz="3800" dirty="0"/>
          </a:p>
        </p:txBody>
      </p:sp>
      <p:pic>
        <p:nvPicPr>
          <p:cNvPr id="3" name="Image 0" descr="preencoded.png"/>
          <p:cNvPicPr>
            <a:picLocks noChangeAspect="1"/>
          </p:cNvPicPr>
          <p:nvPr/>
        </p:nvPicPr>
        <p:blipFill>
          <a:blip r:embed="rId3"/>
          <a:stretch>
            <a:fillRect/>
          </a:stretch>
        </p:blipFill>
        <p:spPr>
          <a:xfrm>
            <a:off x="683657" y="1660088"/>
            <a:ext cx="4102894" cy="4923472"/>
          </a:xfrm>
          <a:prstGeom prst="rect">
            <a:avLst/>
          </a:prstGeom>
        </p:spPr>
      </p:pic>
      <p:sp>
        <p:nvSpPr>
          <p:cNvPr id="4" name="Text 1"/>
          <p:cNvSpPr/>
          <p:nvPr/>
        </p:nvSpPr>
        <p:spPr>
          <a:xfrm>
            <a:off x="683657" y="6803231"/>
            <a:ext cx="4102894" cy="312539"/>
          </a:xfrm>
          <a:prstGeom prst="rect">
            <a:avLst/>
          </a:prstGeom>
          <a:noFill/>
          <a:ln/>
        </p:spPr>
        <p:txBody>
          <a:bodyPr wrap="none" lIns="0" tIns="0" rIns="0" bIns="0" rtlCol="0" anchor="t"/>
          <a:lstStyle/>
          <a:p>
            <a:pPr marL="0" indent="0" algn="ctr">
              <a:lnSpc>
                <a:spcPts val="2450"/>
              </a:lnSpc>
              <a:buNone/>
            </a:pPr>
            <a:r>
              <a:rPr lang="en-US" sz="1500" dirty="0">
                <a:solidFill>
                  <a:srgbClr val="4C4C4C"/>
                </a:solidFill>
                <a:latin typeface="Noto Serif" pitchFamily="34" charset="0"/>
                <a:ea typeface="Noto Serif" pitchFamily="34" charset="-122"/>
                <a:cs typeface="Noto Serif" pitchFamily="34" charset="-120"/>
              </a:rPr>
              <a:t>Welcome Screen</a:t>
            </a:r>
            <a:endParaRPr lang="en-US" sz="1500" dirty="0"/>
          </a:p>
        </p:txBody>
      </p:sp>
      <p:sp>
        <p:nvSpPr>
          <p:cNvPr id="5" name="Text 2"/>
          <p:cNvSpPr/>
          <p:nvPr/>
        </p:nvSpPr>
        <p:spPr>
          <a:xfrm>
            <a:off x="5270659" y="1616154"/>
            <a:ext cx="4102894" cy="312539"/>
          </a:xfrm>
          <a:prstGeom prst="rect">
            <a:avLst/>
          </a:prstGeom>
          <a:noFill/>
          <a:ln/>
        </p:spPr>
        <p:txBody>
          <a:bodyPr wrap="none" lIns="0" tIns="0" rIns="0" bIns="0" rtlCol="0" anchor="t"/>
          <a:lstStyle/>
          <a:p>
            <a:pPr marL="0" indent="0" algn="ctr">
              <a:lnSpc>
                <a:spcPts val="2450"/>
              </a:lnSpc>
              <a:buNone/>
            </a:pPr>
            <a:r>
              <a:rPr lang="en-US" sz="1500" dirty="0">
                <a:solidFill>
                  <a:srgbClr val="4C4C4C"/>
                </a:solidFill>
                <a:latin typeface="Noto Serif" pitchFamily="34" charset="0"/>
                <a:ea typeface="Noto Serif" pitchFamily="34" charset="-122"/>
                <a:cs typeface="Noto Serif" pitchFamily="34" charset="-120"/>
              </a:rPr>
              <a:t>Home Dashboard</a:t>
            </a:r>
            <a:endParaRPr lang="en-US" sz="1500" dirty="0"/>
          </a:p>
        </p:txBody>
      </p:sp>
      <p:pic>
        <p:nvPicPr>
          <p:cNvPr id="6" name="Image 1" descr="preencoded.png"/>
          <p:cNvPicPr>
            <a:picLocks noChangeAspect="1"/>
          </p:cNvPicPr>
          <p:nvPr/>
        </p:nvPicPr>
        <p:blipFill>
          <a:blip r:embed="rId4"/>
          <a:stretch>
            <a:fillRect/>
          </a:stretch>
        </p:blipFill>
        <p:spPr>
          <a:xfrm>
            <a:off x="5986463" y="2148364"/>
            <a:ext cx="2449413" cy="4052411"/>
          </a:xfrm>
          <a:prstGeom prst="rect">
            <a:avLst/>
          </a:prstGeom>
        </p:spPr>
      </p:pic>
      <p:sp>
        <p:nvSpPr>
          <p:cNvPr id="7" name="Text 3"/>
          <p:cNvSpPr/>
          <p:nvPr/>
        </p:nvSpPr>
        <p:spPr>
          <a:xfrm>
            <a:off x="9857661" y="1616154"/>
            <a:ext cx="4102894" cy="312539"/>
          </a:xfrm>
          <a:prstGeom prst="rect">
            <a:avLst/>
          </a:prstGeom>
          <a:noFill/>
          <a:ln/>
        </p:spPr>
        <p:txBody>
          <a:bodyPr wrap="none" lIns="0" tIns="0" rIns="0" bIns="0" rtlCol="0" anchor="t"/>
          <a:lstStyle/>
          <a:p>
            <a:pPr marL="0" indent="0" algn="ctr">
              <a:lnSpc>
                <a:spcPts val="2450"/>
              </a:lnSpc>
              <a:buNone/>
            </a:pPr>
            <a:endParaRPr lang="en-US" sz="1500" dirty="0"/>
          </a:p>
        </p:txBody>
      </p:sp>
      <p:pic>
        <p:nvPicPr>
          <p:cNvPr id="8" name="Image 2" descr="preencoded.png"/>
          <p:cNvPicPr>
            <a:picLocks noChangeAspect="1"/>
          </p:cNvPicPr>
          <p:nvPr/>
        </p:nvPicPr>
        <p:blipFill>
          <a:blip r:embed="rId5"/>
          <a:stretch>
            <a:fillRect/>
          </a:stretch>
        </p:blipFill>
        <p:spPr>
          <a:xfrm>
            <a:off x="9857661" y="1980367"/>
            <a:ext cx="2843927" cy="4052411"/>
          </a:xfrm>
          <a:prstGeom prst="rect">
            <a:avLst/>
          </a:prstGeom>
        </p:spPr>
      </p:pic>
      <p:sp>
        <p:nvSpPr>
          <p:cNvPr id="9" name="Text 4"/>
          <p:cNvSpPr/>
          <p:nvPr/>
        </p:nvSpPr>
        <p:spPr>
          <a:xfrm>
            <a:off x="9401414" y="6044505"/>
            <a:ext cx="4102894" cy="312539"/>
          </a:xfrm>
          <a:prstGeom prst="rect">
            <a:avLst/>
          </a:prstGeom>
          <a:noFill/>
          <a:ln/>
        </p:spPr>
        <p:txBody>
          <a:bodyPr wrap="none" lIns="0" tIns="0" rIns="0" bIns="0" rtlCol="0" anchor="t"/>
          <a:lstStyle/>
          <a:p>
            <a:pPr marL="0" indent="0" algn="ctr">
              <a:lnSpc>
                <a:spcPts val="2450"/>
              </a:lnSpc>
              <a:buNone/>
            </a:pPr>
            <a:r>
              <a:rPr lang="en-US" sz="1500" dirty="0">
                <a:solidFill>
                  <a:srgbClr val="4C4C4C"/>
                </a:solidFill>
                <a:latin typeface="Noto Serif" pitchFamily="34" charset="0"/>
                <a:ea typeface="Noto Serif" pitchFamily="34" charset="-122"/>
                <a:cs typeface="Noto Serif" pitchFamily="34" charset="-120"/>
              </a:rPr>
              <a:t>Diagnostic Results</a:t>
            </a:r>
            <a:endParaRPr lang="en-US" sz="1500" dirty="0"/>
          </a:p>
        </p:txBody>
      </p:sp>
      <p:sp>
        <p:nvSpPr>
          <p:cNvPr id="10" name="Text 5"/>
          <p:cNvSpPr/>
          <p:nvPr/>
        </p:nvSpPr>
        <p:spPr>
          <a:xfrm>
            <a:off x="683657" y="7511177"/>
            <a:ext cx="13263086" cy="625078"/>
          </a:xfrm>
          <a:prstGeom prst="rect">
            <a:avLst/>
          </a:prstGeom>
          <a:noFill/>
          <a:ln/>
        </p:spPr>
        <p:txBody>
          <a:bodyPr wrap="square" lIns="0" tIns="0" rIns="0" bIns="0" rtlCol="0" anchor="t"/>
          <a:lstStyle/>
          <a:p>
            <a:pPr marL="0" indent="0" algn="l">
              <a:lnSpc>
                <a:spcPts val="2450"/>
              </a:lnSpc>
              <a:buNone/>
            </a:pPr>
            <a:r>
              <a:rPr lang="en-US" sz="1500" dirty="0">
                <a:solidFill>
                  <a:srgbClr val="4C4C4C"/>
                </a:solidFill>
                <a:latin typeface="Noto Serif" pitchFamily="34" charset="0"/>
                <a:ea typeface="Noto Serif" pitchFamily="34" charset="-122"/>
                <a:cs typeface="Noto Serif" pitchFamily="34" charset="-120"/>
              </a:rPr>
              <a:t>The UI was designed with a focus on simplicity and accessibility, ensuring that non-technical users can easily navigate and understand vehicle diagnostics.</a:t>
            </a:r>
            <a:endParaRPr lang="en-US" sz="1500" dirty="0"/>
          </a:p>
        </p:txBody>
      </p:sp>
      <p:sp>
        <p:nvSpPr>
          <p:cNvPr id="11" name="Rectangle: Rounded Corners 10">
            <a:extLst>
              <a:ext uri="{FF2B5EF4-FFF2-40B4-BE49-F238E27FC236}">
                <a16:creationId xmlns:a16="http://schemas.microsoft.com/office/drawing/2014/main" id="{93B35C27-8B18-EE65-2190-75E2BF4975F7}"/>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9722" y="495776"/>
            <a:ext cx="6475690" cy="562213"/>
          </a:xfrm>
          <a:prstGeom prst="rect">
            <a:avLst/>
          </a:prstGeom>
          <a:noFill/>
          <a:ln/>
        </p:spPr>
        <p:txBody>
          <a:bodyPr wrap="none" lIns="0" tIns="0" rIns="0" bIns="0" rtlCol="0" anchor="t"/>
          <a:lstStyle/>
          <a:p>
            <a:pPr marL="0" indent="0" algn="l">
              <a:lnSpc>
                <a:spcPts val="4400"/>
              </a:lnSpc>
              <a:buNone/>
            </a:pPr>
            <a:r>
              <a:rPr lang="en-US" sz="3500" dirty="0">
                <a:solidFill>
                  <a:srgbClr val="3A3A3A"/>
                </a:solidFill>
                <a:latin typeface="Noto Serif Medium" pitchFamily="34" charset="0"/>
                <a:ea typeface="Noto Serif Medium" pitchFamily="34" charset="-122"/>
                <a:cs typeface="Noto Serif Medium" pitchFamily="34" charset="-120"/>
              </a:rPr>
              <a:t>Implementation Technologies</a:t>
            </a:r>
            <a:endParaRPr lang="en-US" sz="3500" dirty="0"/>
          </a:p>
        </p:txBody>
      </p:sp>
      <p:pic>
        <p:nvPicPr>
          <p:cNvPr id="4" name="Image 1" descr="preencoded.png"/>
          <p:cNvPicPr>
            <a:picLocks noChangeAspect="1"/>
          </p:cNvPicPr>
          <p:nvPr/>
        </p:nvPicPr>
        <p:blipFill>
          <a:blip r:embed="rId4"/>
          <a:stretch>
            <a:fillRect/>
          </a:stretch>
        </p:blipFill>
        <p:spPr>
          <a:xfrm>
            <a:off x="629722" y="1327785"/>
            <a:ext cx="449818" cy="449818"/>
          </a:xfrm>
          <a:prstGeom prst="rect">
            <a:avLst/>
          </a:prstGeom>
        </p:spPr>
      </p:pic>
      <p:sp>
        <p:nvSpPr>
          <p:cNvPr id="5" name="Text 1"/>
          <p:cNvSpPr/>
          <p:nvPr/>
        </p:nvSpPr>
        <p:spPr>
          <a:xfrm>
            <a:off x="1304449" y="1434584"/>
            <a:ext cx="2249091" cy="281107"/>
          </a:xfrm>
          <a:prstGeom prst="rect">
            <a:avLst/>
          </a:prstGeom>
          <a:noFill/>
          <a:ln/>
        </p:spPr>
        <p:txBody>
          <a:bodyPr wrap="none" lIns="0" tIns="0" rIns="0" bIns="0" rtlCol="0" anchor="t"/>
          <a:lstStyle/>
          <a:p>
            <a:pPr marL="0" indent="0" algn="l">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Frontend</a:t>
            </a:r>
            <a:endParaRPr lang="en-US" sz="1750" dirty="0"/>
          </a:p>
        </p:txBody>
      </p:sp>
      <p:sp>
        <p:nvSpPr>
          <p:cNvPr id="6" name="Text 2"/>
          <p:cNvSpPr/>
          <p:nvPr/>
        </p:nvSpPr>
        <p:spPr>
          <a:xfrm>
            <a:off x="1304449" y="1823561"/>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React Native with Expo</a:t>
            </a:r>
            <a:endParaRPr lang="en-US" sz="1400" dirty="0"/>
          </a:p>
        </p:txBody>
      </p:sp>
      <p:sp>
        <p:nvSpPr>
          <p:cNvPr id="7" name="Text 3"/>
          <p:cNvSpPr/>
          <p:nvPr/>
        </p:nvSpPr>
        <p:spPr>
          <a:xfrm>
            <a:off x="1304449" y="2174200"/>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React Navigation</a:t>
            </a:r>
            <a:endParaRPr lang="en-US" sz="1400" dirty="0"/>
          </a:p>
        </p:txBody>
      </p:sp>
      <p:sp>
        <p:nvSpPr>
          <p:cNvPr id="8" name="Text 4"/>
          <p:cNvSpPr/>
          <p:nvPr/>
        </p:nvSpPr>
        <p:spPr>
          <a:xfrm>
            <a:off x="1304449" y="2524839"/>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React Context API</a:t>
            </a:r>
            <a:endParaRPr lang="en-US" sz="1400" dirty="0"/>
          </a:p>
        </p:txBody>
      </p:sp>
      <p:sp>
        <p:nvSpPr>
          <p:cNvPr id="9" name="Text 5"/>
          <p:cNvSpPr/>
          <p:nvPr/>
        </p:nvSpPr>
        <p:spPr>
          <a:xfrm>
            <a:off x="1304449" y="2875478"/>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AsyncStorage</a:t>
            </a:r>
            <a:endParaRPr lang="en-US" sz="1400" dirty="0"/>
          </a:p>
        </p:txBody>
      </p:sp>
      <p:sp>
        <p:nvSpPr>
          <p:cNvPr id="10" name="Shape 6"/>
          <p:cNvSpPr/>
          <p:nvPr/>
        </p:nvSpPr>
        <p:spPr>
          <a:xfrm>
            <a:off x="652224" y="3604260"/>
            <a:ext cx="404693" cy="467558"/>
          </a:xfrm>
          <a:prstGeom prst="roundRect">
            <a:avLst>
              <a:gd name="adj" fmla="val 13557"/>
            </a:avLst>
          </a:prstGeom>
          <a:solidFill>
            <a:srgbClr val="DFDFE0"/>
          </a:solidFill>
          <a:ln/>
        </p:spPr>
      </p:sp>
      <p:pic>
        <p:nvPicPr>
          <p:cNvPr id="11" name="Image 2" descr="preencoded.png"/>
          <p:cNvPicPr>
            <a:picLocks noChangeAspect="1"/>
          </p:cNvPicPr>
          <p:nvPr/>
        </p:nvPicPr>
        <p:blipFill>
          <a:blip r:embed="rId5"/>
          <a:stretch>
            <a:fillRect/>
          </a:stretch>
        </p:blipFill>
        <p:spPr>
          <a:xfrm>
            <a:off x="629722" y="3613071"/>
            <a:ext cx="449818" cy="449818"/>
          </a:xfrm>
          <a:prstGeom prst="rect">
            <a:avLst/>
          </a:prstGeom>
        </p:spPr>
      </p:pic>
      <p:sp>
        <p:nvSpPr>
          <p:cNvPr id="12" name="Text 7"/>
          <p:cNvSpPr/>
          <p:nvPr/>
        </p:nvSpPr>
        <p:spPr>
          <a:xfrm>
            <a:off x="1304449" y="3719870"/>
            <a:ext cx="2249091" cy="281107"/>
          </a:xfrm>
          <a:prstGeom prst="rect">
            <a:avLst/>
          </a:prstGeom>
          <a:noFill/>
          <a:ln/>
        </p:spPr>
        <p:txBody>
          <a:bodyPr wrap="none" lIns="0" tIns="0" rIns="0" bIns="0" rtlCol="0" anchor="t"/>
          <a:lstStyle/>
          <a:p>
            <a:pPr marL="0" indent="0" algn="l">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Backend &amp; Database</a:t>
            </a:r>
            <a:endParaRPr lang="en-US" sz="1750" dirty="0"/>
          </a:p>
        </p:txBody>
      </p:sp>
      <p:sp>
        <p:nvSpPr>
          <p:cNvPr id="13" name="Text 8"/>
          <p:cNvSpPr/>
          <p:nvPr/>
        </p:nvSpPr>
        <p:spPr>
          <a:xfrm>
            <a:off x="1304449" y="4108847"/>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Node.js &amp; Express.js</a:t>
            </a:r>
            <a:endParaRPr lang="en-US" sz="1400" dirty="0"/>
          </a:p>
        </p:txBody>
      </p:sp>
      <p:sp>
        <p:nvSpPr>
          <p:cNvPr id="14" name="Text 9"/>
          <p:cNvSpPr/>
          <p:nvPr/>
        </p:nvSpPr>
        <p:spPr>
          <a:xfrm>
            <a:off x="1304449" y="4459486"/>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Firebase Firestore</a:t>
            </a:r>
            <a:endParaRPr lang="en-US" sz="1400" dirty="0"/>
          </a:p>
        </p:txBody>
      </p:sp>
      <p:sp>
        <p:nvSpPr>
          <p:cNvPr id="15" name="Text 10"/>
          <p:cNvSpPr/>
          <p:nvPr/>
        </p:nvSpPr>
        <p:spPr>
          <a:xfrm>
            <a:off x="1304449" y="4810125"/>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Firebase Admin SDK</a:t>
            </a:r>
            <a:endParaRPr lang="en-US" sz="1400" dirty="0"/>
          </a:p>
        </p:txBody>
      </p:sp>
      <p:sp>
        <p:nvSpPr>
          <p:cNvPr id="16" name="Text 11"/>
          <p:cNvSpPr/>
          <p:nvPr/>
        </p:nvSpPr>
        <p:spPr>
          <a:xfrm>
            <a:off x="1304449" y="5160764"/>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Firebase Authentication</a:t>
            </a:r>
            <a:endParaRPr lang="en-US" sz="1400" dirty="0"/>
          </a:p>
        </p:txBody>
      </p:sp>
      <p:pic>
        <p:nvPicPr>
          <p:cNvPr id="17" name="Image 3" descr="preencoded.png"/>
          <p:cNvPicPr>
            <a:picLocks noChangeAspect="1"/>
          </p:cNvPicPr>
          <p:nvPr/>
        </p:nvPicPr>
        <p:blipFill>
          <a:blip r:embed="rId6"/>
          <a:stretch>
            <a:fillRect/>
          </a:stretch>
        </p:blipFill>
        <p:spPr>
          <a:xfrm>
            <a:off x="629722" y="5898356"/>
            <a:ext cx="449818" cy="449818"/>
          </a:xfrm>
          <a:prstGeom prst="rect">
            <a:avLst/>
          </a:prstGeom>
        </p:spPr>
      </p:pic>
      <p:sp>
        <p:nvSpPr>
          <p:cNvPr id="18" name="Text 12"/>
          <p:cNvSpPr/>
          <p:nvPr/>
        </p:nvSpPr>
        <p:spPr>
          <a:xfrm>
            <a:off x="1304449" y="6005155"/>
            <a:ext cx="2249091" cy="281107"/>
          </a:xfrm>
          <a:prstGeom prst="rect">
            <a:avLst/>
          </a:prstGeom>
          <a:noFill/>
          <a:ln/>
        </p:spPr>
        <p:txBody>
          <a:bodyPr wrap="none" lIns="0" tIns="0" rIns="0" bIns="0" rtlCol="0" anchor="t"/>
          <a:lstStyle/>
          <a:p>
            <a:pPr marL="0" indent="0" algn="l">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AI/ML Tools</a:t>
            </a:r>
            <a:endParaRPr lang="en-US" sz="1750" dirty="0"/>
          </a:p>
        </p:txBody>
      </p:sp>
      <p:sp>
        <p:nvSpPr>
          <p:cNvPr id="19" name="Text 13"/>
          <p:cNvSpPr/>
          <p:nvPr/>
        </p:nvSpPr>
        <p:spPr>
          <a:xfrm>
            <a:off x="1304449" y="6394132"/>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HuggingFace Models</a:t>
            </a:r>
            <a:endParaRPr lang="en-US" sz="1400" dirty="0"/>
          </a:p>
        </p:txBody>
      </p:sp>
      <p:sp>
        <p:nvSpPr>
          <p:cNvPr id="20" name="Text 14"/>
          <p:cNvSpPr/>
          <p:nvPr/>
        </p:nvSpPr>
        <p:spPr>
          <a:xfrm>
            <a:off x="1304449" y="6744772"/>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Kaggle Datasets</a:t>
            </a:r>
            <a:endParaRPr lang="en-US" sz="1400" dirty="0"/>
          </a:p>
        </p:txBody>
      </p:sp>
      <p:sp>
        <p:nvSpPr>
          <p:cNvPr id="21" name="Text 15"/>
          <p:cNvSpPr/>
          <p:nvPr/>
        </p:nvSpPr>
        <p:spPr>
          <a:xfrm>
            <a:off x="1304449" y="7095411"/>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Audio Classification</a:t>
            </a:r>
            <a:endParaRPr lang="en-US" sz="1400" dirty="0"/>
          </a:p>
        </p:txBody>
      </p:sp>
      <p:sp>
        <p:nvSpPr>
          <p:cNvPr id="22" name="Text 16"/>
          <p:cNvSpPr/>
          <p:nvPr/>
        </p:nvSpPr>
        <p:spPr>
          <a:xfrm>
            <a:off x="1304449" y="7446050"/>
            <a:ext cx="7209830" cy="287774"/>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4C4C4C"/>
                </a:solidFill>
                <a:latin typeface="Noto Serif" pitchFamily="34" charset="0"/>
                <a:ea typeface="Noto Serif" pitchFamily="34" charset="-122"/>
                <a:cs typeface="Noto Serif" pitchFamily="34" charset="-120"/>
              </a:rPr>
              <a:t>Computer Vision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228136"/>
            <a:ext cx="6562249"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Results &amp; Achievements</a:t>
            </a:r>
            <a:endParaRPr lang="en-US" sz="4450" dirty="0"/>
          </a:p>
        </p:txBody>
      </p:sp>
      <p:sp>
        <p:nvSpPr>
          <p:cNvPr id="3" name="Text 1"/>
          <p:cNvSpPr/>
          <p:nvPr/>
        </p:nvSpPr>
        <p:spPr>
          <a:xfrm>
            <a:off x="793790" y="3390424"/>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2</a:t>
            </a:r>
            <a:endParaRPr lang="en-US" sz="5850" dirty="0"/>
          </a:p>
        </p:txBody>
      </p:sp>
      <p:sp>
        <p:nvSpPr>
          <p:cNvPr id="4" name="Text 2"/>
          <p:cNvSpPr/>
          <p:nvPr/>
        </p:nvSpPr>
        <p:spPr>
          <a:xfrm>
            <a:off x="1455420" y="4422219"/>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User Roles</a:t>
            </a:r>
            <a:endParaRPr lang="en-US" sz="2200" dirty="0"/>
          </a:p>
        </p:txBody>
      </p:sp>
      <p:sp>
        <p:nvSpPr>
          <p:cNvPr id="5" name="Text 3"/>
          <p:cNvSpPr/>
          <p:nvPr/>
        </p:nvSpPr>
        <p:spPr>
          <a:xfrm>
            <a:off x="793790" y="4912638"/>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Regular users and mechanics, each with specific functionality tailored to their needs</a:t>
            </a:r>
            <a:endParaRPr lang="en-US" sz="1750" dirty="0"/>
          </a:p>
        </p:txBody>
      </p:sp>
      <p:sp>
        <p:nvSpPr>
          <p:cNvPr id="6" name="Text 4"/>
          <p:cNvSpPr/>
          <p:nvPr/>
        </p:nvSpPr>
        <p:spPr>
          <a:xfrm>
            <a:off x="5235893" y="3390424"/>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100%</a:t>
            </a:r>
            <a:endParaRPr lang="en-US" sz="5850" dirty="0"/>
          </a:p>
        </p:txBody>
      </p:sp>
      <p:sp>
        <p:nvSpPr>
          <p:cNvPr id="7" name="Text 5"/>
          <p:cNvSpPr/>
          <p:nvPr/>
        </p:nvSpPr>
        <p:spPr>
          <a:xfrm>
            <a:off x="5897523" y="4422219"/>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Core Objectives Met</a:t>
            </a:r>
            <a:endParaRPr lang="en-US" sz="2200" dirty="0"/>
          </a:p>
        </p:txBody>
      </p:sp>
      <p:sp>
        <p:nvSpPr>
          <p:cNvPr id="8" name="Text 6"/>
          <p:cNvSpPr/>
          <p:nvPr/>
        </p:nvSpPr>
        <p:spPr>
          <a:xfrm>
            <a:off x="5235893" y="4912638"/>
            <a:ext cx="4158615" cy="1088708"/>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Successfully implemented mobile app, real-time updates, and AI-ready architecture</a:t>
            </a:r>
            <a:endParaRPr lang="en-US" sz="1750" dirty="0"/>
          </a:p>
        </p:txBody>
      </p:sp>
      <p:sp>
        <p:nvSpPr>
          <p:cNvPr id="9" name="Text 7"/>
          <p:cNvSpPr/>
          <p:nvPr/>
        </p:nvSpPr>
        <p:spPr>
          <a:xfrm>
            <a:off x="9677995" y="3390424"/>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C4C4C"/>
                </a:solidFill>
                <a:latin typeface="Noto Serif Medium" pitchFamily="34" charset="0"/>
                <a:ea typeface="Noto Serif Medium" pitchFamily="34" charset="-122"/>
                <a:cs typeface="Noto Serif Medium" pitchFamily="34" charset="-120"/>
              </a:rPr>
              <a:t>0</a:t>
            </a:r>
            <a:endParaRPr lang="en-US" sz="5850" dirty="0"/>
          </a:p>
        </p:txBody>
      </p:sp>
      <p:sp>
        <p:nvSpPr>
          <p:cNvPr id="10" name="Text 8"/>
          <p:cNvSpPr/>
          <p:nvPr/>
        </p:nvSpPr>
        <p:spPr>
          <a:xfrm>
            <a:off x="10339626" y="4422219"/>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Hardware Required</a:t>
            </a:r>
            <a:endParaRPr lang="en-US" sz="2200" dirty="0"/>
          </a:p>
        </p:txBody>
      </p:sp>
      <p:sp>
        <p:nvSpPr>
          <p:cNvPr id="11" name="Text 9"/>
          <p:cNvSpPr/>
          <p:nvPr/>
        </p:nvSpPr>
        <p:spPr>
          <a:xfrm>
            <a:off x="9677995" y="4912638"/>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No physical diagnostic tools needed beyond the smartphone itself</a:t>
            </a:r>
            <a:endParaRPr lang="en-US" sz="1750" dirty="0"/>
          </a:p>
        </p:txBody>
      </p:sp>
      <p:sp>
        <p:nvSpPr>
          <p:cNvPr id="12" name="Rectangle: Rounded Corners 11">
            <a:extLst>
              <a:ext uri="{FF2B5EF4-FFF2-40B4-BE49-F238E27FC236}">
                <a16:creationId xmlns:a16="http://schemas.microsoft.com/office/drawing/2014/main" id="{ACD83F3B-8931-932A-6FE0-8F0E7B2E3F15}"/>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279684"/>
            <a:ext cx="10308908" cy="566976"/>
          </a:xfrm>
          <a:prstGeom prst="rect">
            <a:avLst/>
          </a:prstGeom>
          <a:noFill/>
          <a:ln/>
        </p:spPr>
        <p:txBody>
          <a:bodyPr wrap="none" lIns="0" tIns="0" rIns="0" bIns="0" rtlCol="0" anchor="t"/>
          <a:lstStyle/>
          <a:p>
            <a:pPr marL="0" indent="0" algn="l">
              <a:lnSpc>
                <a:spcPts val="4450"/>
              </a:lnSpc>
              <a:buNone/>
            </a:pPr>
            <a:r>
              <a:rPr lang="en-US" sz="3550" b="1" dirty="0">
                <a:solidFill>
                  <a:srgbClr val="3A3A3A"/>
                </a:solidFill>
                <a:latin typeface="Noto Serif Medium" pitchFamily="34" charset="0"/>
                <a:ea typeface="Noto Serif Medium" pitchFamily="34" charset="-122"/>
                <a:cs typeface="Noto Serif Medium" pitchFamily="34" charset="-120"/>
              </a:rPr>
              <a:t> Contribution to Engineering and Technology</a:t>
            </a:r>
            <a:endParaRPr lang="en-US" sz="3550" dirty="0"/>
          </a:p>
        </p:txBody>
      </p:sp>
      <p:sp>
        <p:nvSpPr>
          <p:cNvPr id="3" name="Text 1"/>
          <p:cNvSpPr/>
          <p:nvPr/>
        </p:nvSpPr>
        <p:spPr>
          <a:xfrm>
            <a:off x="793790" y="230028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Ø </a:t>
            </a:r>
            <a:r>
              <a:rPr lang="en-US" sz="1750" b="1" dirty="0">
                <a:solidFill>
                  <a:srgbClr val="4C4C4C"/>
                </a:solidFill>
                <a:latin typeface="Noto Serif" pitchFamily="34" charset="0"/>
                <a:ea typeface="Noto Serif" pitchFamily="34" charset="-122"/>
                <a:cs typeface="Noto Serif" pitchFamily="34" charset="-120"/>
              </a:rPr>
              <a:t>Enhanced Accessibility:</a:t>
            </a:r>
            <a:r>
              <a:rPr lang="en-US" sz="1750" dirty="0">
                <a:solidFill>
                  <a:srgbClr val="4C4C4C"/>
                </a:solidFill>
                <a:latin typeface="Noto Serif" pitchFamily="34" charset="0"/>
                <a:ea typeface="Noto Serif" pitchFamily="34" charset="-122"/>
                <a:cs typeface="Noto Serif" pitchFamily="34" charset="-120"/>
              </a:rPr>
              <a:t> By shifting diagnostics from hardware tools to a smartphone app, MFix reduces reliance on physical OBD-II scanners, opening up diagnostics to users with minimal equipment.</a:t>
            </a:r>
            <a:endParaRPr lang="en-US" sz="1750" dirty="0"/>
          </a:p>
        </p:txBody>
      </p:sp>
      <p:sp>
        <p:nvSpPr>
          <p:cNvPr id="4" name="Text 2"/>
          <p:cNvSpPr/>
          <p:nvPr/>
        </p:nvSpPr>
        <p:spPr>
          <a:xfrm>
            <a:off x="793790" y="328124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Ø </a:t>
            </a:r>
            <a:r>
              <a:rPr lang="en-US" sz="1750" b="1" dirty="0">
                <a:solidFill>
                  <a:srgbClr val="4C4C4C"/>
                </a:solidFill>
                <a:latin typeface="Noto Serif" pitchFamily="34" charset="0"/>
                <a:ea typeface="Noto Serif" pitchFamily="34" charset="-122"/>
                <a:cs typeface="Noto Serif" pitchFamily="34" charset="-120"/>
              </a:rPr>
              <a:t>Cloud Integration:</a:t>
            </a:r>
            <a:r>
              <a:rPr lang="en-US" sz="1750" dirty="0">
                <a:solidFill>
                  <a:srgbClr val="4C4C4C"/>
                </a:solidFill>
                <a:latin typeface="Noto Serif" pitchFamily="34" charset="0"/>
                <a:ea typeface="Noto Serif" pitchFamily="34" charset="-122"/>
                <a:cs typeface="Noto Serif" pitchFamily="34" charset="-120"/>
              </a:rPr>
              <a:t> Real-time data handling via Firestore allows for immediate updates, collaboration, and request tracking across users and mechanics.</a:t>
            </a:r>
            <a:endParaRPr lang="en-US" sz="1750" dirty="0"/>
          </a:p>
        </p:txBody>
      </p:sp>
      <p:sp>
        <p:nvSpPr>
          <p:cNvPr id="5" name="Text 3"/>
          <p:cNvSpPr/>
          <p:nvPr/>
        </p:nvSpPr>
        <p:spPr>
          <a:xfrm>
            <a:off x="793790" y="426219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Ø </a:t>
            </a:r>
            <a:r>
              <a:rPr lang="en-US" sz="1750" b="1" dirty="0">
                <a:solidFill>
                  <a:srgbClr val="4C4C4C"/>
                </a:solidFill>
                <a:latin typeface="Noto Serif" pitchFamily="34" charset="0"/>
                <a:ea typeface="Noto Serif" pitchFamily="34" charset="-122"/>
                <a:cs typeface="Noto Serif" pitchFamily="34" charset="-120"/>
              </a:rPr>
              <a:t>AI-Ready Architecture:</a:t>
            </a:r>
            <a:r>
              <a:rPr lang="en-US" sz="1750" dirty="0">
                <a:solidFill>
                  <a:srgbClr val="4C4C4C"/>
                </a:solidFill>
                <a:latin typeface="Noto Serif" pitchFamily="34" charset="0"/>
                <a:ea typeface="Noto Serif" pitchFamily="34" charset="-122"/>
                <a:cs typeface="Noto Serif" pitchFamily="34" charset="-120"/>
              </a:rPr>
              <a:t> Although preliminary, the inclusion of sound-based diagnostics via a fine-tuned audio classification model demonstrates how machine learning can enhance automotive fault detection.</a:t>
            </a:r>
            <a:endParaRPr lang="en-US" sz="1750" dirty="0"/>
          </a:p>
        </p:txBody>
      </p:sp>
      <p:sp>
        <p:nvSpPr>
          <p:cNvPr id="6" name="Text 4"/>
          <p:cNvSpPr/>
          <p:nvPr/>
        </p:nvSpPr>
        <p:spPr>
          <a:xfrm>
            <a:off x="793790" y="524315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Ø </a:t>
            </a:r>
            <a:r>
              <a:rPr lang="en-US" sz="1750" b="1" dirty="0">
                <a:solidFill>
                  <a:srgbClr val="4C4C4C"/>
                </a:solidFill>
                <a:latin typeface="Noto Serif" pitchFamily="34" charset="0"/>
                <a:ea typeface="Noto Serif" pitchFamily="34" charset="-122"/>
                <a:cs typeface="Noto Serif" pitchFamily="34" charset="-120"/>
              </a:rPr>
              <a:t>User-Mechanic Ecosystem:</a:t>
            </a:r>
            <a:r>
              <a:rPr lang="en-US" sz="1750" dirty="0">
                <a:solidFill>
                  <a:srgbClr val="4C4C4C"/>
                </a:solidFill>
                <a:latin typeface="Noto Serif" pitchFamily="34" charset="0"/>
                <a:ea typeface="Noto Serif" pitchFamily="34" charset="-122"/>
                <a:cs typeface="Noto Serif" pitchFamily="34" charset="-120"/>
              </a:rPr>
              <a:t> Introducing a role-based service model, MFix supports request tracking and professional feedback loops, unlike most current apps which are user-only.</a:t>
            </a:r>
            <a:endParaRPr lang="en-US" sz="1750" dirty="0"/>
          </a:p>
        </p:txBody>
      </p:sp>
      <p:sp>
        <p:nvSpPr>
          <p:cNvPr id="7" name="Text 5"/>
          <p:cNvSpPr/>
          <p:nvPr/>
        </p:nvSpPr>
        <p:spPr>
          <a:xfrm>
            <a:off x="793790" y="622411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Ø </a:t>
            </a:r>
            <a:r>
              <a:rPr lang="en-US" sz="1750" b="1" dirty="0">
                <a:solidFill>
                  <a:srgbClr val="4C4C4C"/>
                </a:solidFill>
                <a:latin typeface="Noto Serif" pitchFamily="34" charset="0"/>
                <a:ea typeface="Noto Serif" pitchFamily="34" charset="-122"/>
                <a:cs typeface="Noto Serif" pitchFamily="34" charset="-120"/>
              </a:rPr>
              <a:t>Scalable Design:</a:t>
            </a:r>
            <a:r>
              <a:rPr lang="en-US" sz="1750" dirty="0">
                <a:solidFill>
                  <a:srgbClr val="4C4C4C"/>
                </a:solidFill>
                <a:latin typeface="Noto Serif" pitchFamily="34" charset="0"/>
                <a:ea typeface="Noto Serif" pitchFamily="34" charset="-122"/>
                <a:cs typeface="Noto Serif" pitchFamily="34" charset="-120"/>
              </a:rPr>
              <a:t> The architecture supports future expansion, including integration with IoT vehicle sensors, live diagnostics, and admin portals.</a:t>
            </a:r>
            <a:endParaRPr lang="en-US" sz="1750" dirty="0"/>
          </a:p>
        </p:txBody>
      </p:sp>
      <p:sp>
        <p:nvSpPr>
          <p:cNvPr id="8" name="Rectangle: Rounded Corners 7">
            <a:extLst>
              <a:ext uri="{FF2B5EF4-FFF2-40B4-BE49-F238E27FC236}">
                <a16:creationId xmlns:a16="http://schemas.microsoft.com/office/drawing/2014/main" id="{116663A1-2356-BADD-BBCA-3E997581DECB}"/>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41640" y="582692"/>
            <a:ext cx="5297805" cy="662226"/>
          </a:xfrm>
          <a:prstGeom prst="rect">
            <a:avLst/>
          </a:prstGeom>
          <a:noFill/>
          <a:ln/>
        </p:spPr>
        <p:txBody>
          <a:bodyPr wrap="none" lIns="0" tIns="0" rIns="0" bIns="0" rtlCol="0" anchor="t"/>
          <a:lstStyle/>
          <a:p>
            <a:pPr marL="0" indent="0" algn="l">
              <a:lnSpc>
                <a:spcPts val="5200"/>
              </a:lnSpc>
              <a:buNone/>
            </a:pPr>
            <a:r>
              <a:rPr lang="en-US" sz="4150" dirty="0">
                <a:solidFill>
                  <a:srgbClr val="3A3A3A"/>
                </a:solidFill>
                <a:latin typeface="Noto Serif Medium" pitchFamily="34" charset="0"/>
                <a:ea typeface="Noto Serif Medium" pitchFamily="34" charset="-122"/>
                <a:cs typeface="Noto Serif Medium" pitchFamily="34" charset="-120"/>
              </a:rPr>
              <a:t>Challenges</a:t>
            </a:r>
            <a:endParaRPr lang="en-US" sz="4150" dirty="0"/>
          </a:p>
        </p:txBody>
      </p:sp>
      <p:sp>
        <p:nvSpPr>
          <p:cNvPr id="3" name="Text 1"/>
          <p:cNvSpPr/>
          <p:nvPr/>
        </p:nvSpPr>
        <p:spPr>
          <a:xfrm>
            <a:off x="741640" y="1562695"/>
            <a:ext cx="3413641" cy="397312"/>
          </a:xfrm>
          <a:prstGeom prst="rect">
            <a:avLst/>
          </a:prstGeom>
          <a:noFill/>
          <a:ln/>
        </p:spPr>
        <p:txBody>
          <a:bodyPr wrap="none" lIns="0" tIns="0" rIns="0" bIns="0" rtlCol="0" anchor="t"/>
          <a:lstStyle/>
          <a:p>
            <a:pPr marL="0" indent="0" algn="l">
              <a:lnSpc>
                <a:spcPts val="3100"/>
              </a:lnSpc>
              <a:buNone/>
            </a:pPr>
            <a:r>
              <a:rPr lang="en-US" sz="2500" dirty="0">
                <a:solidFill>
                  <a:srgbClr val="3A3A3A"/>
                </a:solidFill>
                <a:latin typeface="Noto Serif Medium" pitchFamily="34" charset="0"/>
                <a:ea typeface="Noto Serif Medium" pitchFamily="34" charset="-122"/>
                <a:cs typeface="Noto Serif Medium" pitchFamily="34" charset="-120"/>
              </a:rPr>
              <a:t>Hardware Constraints</a:t>
            </a:r>
            <a:endParaRPr lang="en-US" sz="2500" dirty="0"/>
          </a:p>
        </p:txBody>
      </p:sp>
      <p:sp>
        <p:nvSpPr>
          <p:cNvPr id="4" name="Text 2"/>
          <p:cNvSpPr/>
          <p:nvPr/>
        </p:nvSpPr>
        <p:spPr>
          <a:xfrm>
            <a:off x="741640" y="2277785"/>
            <a:ext cx="13147119" cy="339090"/>
          </a:xfrm>
          <a:prstGeom prst="rect">
            <a:avLst/>
          </a:prstGeom>
          <a:noFill/>
          <a:ln/>
        </p:spPr>
        <p:txBody>
          <a:bodyPr wrap="non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Limited development resources forced on a switch from flutter to react native due to system performance issues.</a:t>
            </a:r>
            <a:endParaRPr lang="en-US" sz="1650" dirty="0"/>
          </a:p>
        </p:txBody>
      </p:sp>
      <p:sp>
        <p:nvSpPr>
          <p:cNvPr id="5" name="Text 3"/>
          <p:cNvSpPr/>
          <p:nvPr/>
        </p:nvSpPr>
        <p:spPr>
          <a:xfrm>
            <a:off x="741640" y="2934653"/>
            <a:ext cx="4744760" cy="397312"/>
          </a:xfrm>
          <a:prstGeom prst="rect">
            <a:avLst/>
          </a:prstGeom>
          <a:noFill/>
          <a:ln/>
        </p:spPr>
        <p:txBody>
          <a:bodyPr wrap="none" lIns="0" tIns="0" rIns="0" bIns="0" rtlCol="0" anchor="t"/>
          <a:lstStyle/>
          <a:p>
            <a:pPr marL="0" indent="0" algn="l">
              <a:lnSpc>
                <a:spcPts val="3100"/>
              </a:lnSpc>
              <a:buNone/>
            </a:pPr>
            <a:r>
              <a:rPr lang="en-US" sz="2500" dirty="0">
                <a:solidFill>
                  <a:srgbClr val="3A3A3A"/>
                </a:solidFill>
                <a:latin typeface="Noto Serif Medium" pitchFamily="34" charset="0"/>
                <a:ea typeface="Noto Serif Medium" pitchFamily="34" charset="-122"/>
                <a:cs typeface="Noto Serif Medium" pitchFamily="34" charset="-120"/>
              </a:rPr>
              <a:t>AI Training Dataset limitations</a:t>
            </a:r>
            <a:endParaRPr lang="en-US" sz="2500" dirty="0"/>
          </a:p>
        </p:txBody>
      </p:sp>
      <p:sp>
        <p:nvSpPr>
          <p:cNvPr id="6" name="Text 4"/>
          <p:cNvSpPr/>
          <p:nvPr/>
        </p:nvSpPr>
        <p:spPr>
          <a:xfrm>
            <a:off x="741640" y="3649742"/>
            <a:ext cx="13147119" cy="339090"/>
          </a:xfrm>
          <a:prstGeom prst="rect">
            <a:avLst/>
          </a:prstGeom>
          <a:noFill/>
          <a:ln/>
        </p:spPr>
        <p:txBody>
          <a:bodyPr wrap="non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  The dataset used for sound diagnostics was relatively small, which constrained model accuracy and generalization.</a:t>
            </a:r>
            <a:endParaRPr lang="en-US" sz="1650" dirty="0"/>
          </a:p>
        </p:txBody>
      </p:sp>
      <p:sp>
        <p:nvSpPr>
          <p:cNvPr id="7" name="Text 5"/>
          <p:cNvSpPr/>
          <p:nvPr/>
        </p:nvSpPr>
        <p:spPr>
          <a:xfrm>
            <a:off x="741640" y="4306610"/>
            <a:ext cx="4450199" cy="397312"/>
          </a:xfrm>
          <a:prstGeom prst="rect">
            <a:avLst/>
          </a:prstGeom>
          <a:noFill/>
          <a:ln/>
        </p:spPr>
        <p:txBody>
          <a:bodyPr wrap="none" lIns="0" tIns="0" rIns="0" bIns="0" rtlCol="0" anchor="t"/>
          <a:lstStyle/>
          <a:p>
            <a:pPr marL="0" indent="0" algn="l">
              <a:lnSpc>
                <a:spcPts val="3100"/>
              </a:lnSpc>
              <a:buNone/>
            </a:pPr>
            <a:r>
              <a:rPr lang="en-US" sz="2500" dirty="0">
                <a:solidFill>
                  <a:srgbClr val="3A3A3A"/>
                </a:solidFill>
                <a:latin typeface="Noto Serif Medium" pitchFamily="34" charset="0"/>
                <a:ea typeface="Noto Serif Medium" pitchFamily="34" charset="-122"/>
                <a:cs typeface="Noto Serif Medium" pitchFamily="34" charset="-120"/>
              </a:rPr>
              <a:t>Limited testing Environment</a:t>
            </a:r>
            <a:endParaRPr lang="en-US" sz="2500" dirty="0"/>
          </a:p>
        </p:txBody>
      </p:sp>
      <p:sp>
        <p:nvSpPr>
          <p:cNvPr id="8" name="Text 6"/>
          <p:cNvSpPr/>
          <p:nvPr/>
        </p:nvSpPr>
        <p:spPr>
          <a:xfrm>
            <a:off x="741640" y="5021699"/>
            <a:ext cx="13147119" cy="678180"/>
          </a:xfrm>
          <a:prstGeom prst="rect">
            <a:avLst/>
          </a:prstGeom>
          <a:noFill/>
          <a:ln/>
        </p:spPr>
        <p:txBody>
          <a:bodyPr wrap="squar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Testing was primarily done on simulators and a few physical devices, restricting insight into performance on low-end or diverse real-world phones.</a:t>
            </a:r>
            <a:endParaRPr lang="en-US" sz="1650" dirty="0"/>
          </a:p>
        </p:txBody>
      </p:sp>
      <p:sp>
        <p:nvSpPr>
          <p:cNvPr id="9" name="Text 7"/>
          <p:cNvSpPr/>
          <p:nvPr/>
        </p:nvSpPr>
        <p:spPr>
          <a:xfrm>
            <a:off x="741640" y="6017657"/>
            <a:ext cx="3254097" cy="397312"/>
          </a:xfrm>
          <a:prstGeom prst="rect">
            <a:avLst/>
          </a:prstGeom>
          <a:noFill/>
          <a:ln/>
        </p:spPr>
        <p:txBody>
          <a:bodyPr wrap="none" lIns="0" tIns="0" rIns="0" bIns="0" rtlCol="0" anchor="t"/>
          <a:lstStyle/>
          <a:p>
            <a:pPr marL="0" indent="0" algn="l">
              <a:lnSpc>
                <a:spcPts val="3100"/>
              </a:lnSpc>
              <a:buNone/>
            </a:pPr>
            <a:r>
              <a:rPr lang="en-US" sz="2500" dirty="0">
                <a:solidFill>
                  <a:srgbClr val="3A3A3A"/>
                </a:solidFill>
                <a:latin typeface="Noto Serif Medium" pitchFamily="34" charset="0"/>
                <a:ea typeface="Noto Serif Medium" pitchFamily="34" charset="-122"/>
                <a:cs typeface="Noto Serif Medium" pitchFamily="34" charset="-120"/>
              </a:rPr>
              <a:t>Internet Dependency</a:t>
            </a:r>
            <a:endParaRPr lang="en-US" sz="2500" dirty="0"/>
          </a:p>
        </p:txBody>
      </p:sp>
      <p:sp>
        <p:nvSpPr>
          <p:cNvPr id="10" name="Text 8"/>
          <p:cNvSpPr/>
          <p:nvPr/>
        </p:nvSpPr>
        <p:spPr>
          <a:xfrm>
            <a:off x="741640" y="6732746"/>
            <a:ext cx="13147119" cy="339090"/>
          </a:xfrm>
          <a:prstGeom prst="rect">
            <a:avLst/>
          </a:prstGeom>
          <a:noFill/>
          <a:ln/>
        </p:spPr>
        <p:txBody>
          <a:bodyPr wrap="non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 The current version relies on active internet connection due to Firebase integration.</a:t>
            </a:r>
            <a:endParaRPr lang="en-US" sz="1650" dirty="0"/>
          </a:p>
        </p:txBody>
      </p:sp>
      <p:sp>
        <p:nvSpPr>
          <p:cNvPr id="11" name="Text 9"/>
          <p:cNvSpPr/>
          <p:nvPr/>
        </p:nvSpPr>
        <p:spPr>
          <a:xfrm>
            <a:off x="741640" y="7310199"/>
            <a:ext cx="13147119" cy="339090"/>
          </a:xfrm>
          <a:prstGeom prst="rect">
            <a:avLst/>
          </a:prstGeom>
          <a:noFill/>
          <a:ln/>
        </p:spPr>
        <p:txBody>
          <a:bodyPr wrap="none" lIns="0" tIns="0" rIns="0" bIns="0" rtlCol="0" anchor="t"/>
          <a:lstStyle/>
          <a:p>
            <a:pPr marL="0" indent="0" algn="l">
              <a:lnSpc>
                <a:spcPts val="2650"/>
              </a:lnSpc>
              <a:buNone/>
            </a:pPr>
            <a:endParaRPr lang="en-US" sz="1650" dirty="0"/>
          </a:p>
        </p:txBody>
      </p:sp>
      <p:sp>
        <p:nvSpPr>
          <p:cNvPr id="12" name="Rectangle: Rounded Corners 11">
            <a:extLst>
              <a:ext uri="{FF2B5EF4-FFF2-40B4-BE49-F238E27FC236}">
                <a16:creationId xmlns:a16="http://schemas.microsoft.com/office/drawing/2014/main" id="{1D260878-271D-ADA7-633D-62E126BC9DEE}"/>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148"/>
          </a:xfrm>
          <a:prstGeom prst="rect">
            <a:avLst/>
          </a:prstGeom>
        </p:spPr>
      </p:pic>
      <p:sp>
        <p:nvSpPr>
          <p:cNvPr id="3" name="Text 0"/>
          <p:cNvSpPr/>
          <p:nvPr/>
        </p:nvSpPr>
        <p:spPr>
          <a:xfrm>
            <a:off x="739735" y="581144"/>
            <a:ext cx="5288161" cy="660440"/>
          </a:xfrm>
          <a:prstGeom prst="rect">
            <a:avLst/>
          </a:prstGeom>
          <a:noFill/>
          <a:ln/>
        </p:spPr>
        <p:txBody>
          <a:bodyPr wrap="none" lIns="0" tIns="0" rIns="0" bIns="0" rtlCol="0" anchor="t"/>
          <a:lstStyle/>
          <a:p>
            <a:pPr marL="0" indent="0" algn="l">
              <a:lnSpc>
                <a:spcPts val="5200"/>
              </a:lnSpc>
              <a:buNone/>
            </a:pPr>
            <a:r>
              <a:rPr lang="en-US" sz="4150" dirty="0">
                <a:solidFill>
                  <a:srgbClr val="3A3A3A"/>
                </a:solidFill>
                <a:latin typeface="Noto Serif Medium" pitchFamily="34" charset="0"/>
                <a:ea typeface="Noto Serif Medium" pitchFamily="34" charset="-122"/>
                <a:cs typeface="Noto Serif Medium" pitchFamily="34" charset="-120"/>
              </a:rPr>
              <a:t>Future Development</a:t>
            </a:r>
            <a:endParaRPr lang="en-US" sz="4150" dirty="0"/>
          </a:p>
        </p:txBody>
      </p:sp>
      <p:sp>
        <p:nvSpPr>
          <p:cNvPr id="4" name="Shape 1"/>
          <p:cNvSpPr/>
          <p:nvPr/>
        </p:nvSpPr>
        <p:spPr>
          <a:xfrm>
            <a:off x="977503" y="1558528"/>
            <a:ext cx="22860" cy="6091476"/>
          </a:xfrm>
          <a:prstGeom prst="roundRect">
            <a:avLst>
              <a:gd name="adj" fmla="val 388338"/>
            </a:avLst>
          </a:prstGeom>
          <a:solidFill>
            <a:srgbClr val="000000">
              <a:alpha val="8000"/>
            </a:srgbClr>
          </a:solidFill>
          <a:ln/>
        </p:spPr>
      </p:sp>
      <p:sp>
        <p:nvSpPr>
          <p:cNvPr id="5" name="Shape 2"/>
          <p:cNvSpPr/>
          <p:nvPr/>
        </p:nvSpPr>
        <p:spPr>
          <a:xfrm>
            <a:off x="1192411" y="1784866"/>
            <a:ext cx="634008" cy="22860"/>
          </a:xfrm>
          <a:prstGeom prst="roundRect">
            <a:avLst>
              <a:gd name="adj" fmla="val 388338"/>
            </a:avLst>
          </a:prstGeom>
          <a:solidFill>
            <a:srgbClr val="CCC4B8"/>
          </a:solidFill>
          <a:ln/>
        </p:spPr>
      </p:sp>
      <p:sp>
        <p:nvSpPr>
          <p:cNvPr id="6" name="Shape 3"/>
          <p:cNvSpPr/>
          <p:nvPr/>
        </p:nvSpPr>
        <p:spPr>
          <a:xfrm>
            <a:off x="739735" y="1558528"/>
            <a:ext cx="475536" cy="475536"/>
          </a:xfrm>
          <a:prstGeom prst="roundRect">
            <a:avLst>
              <a:gd name="adj" fmla="val 18668"/>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7" name="Text 4"/>
          <p:cNvSpPr/>
          <p:nvPr/>
        </p:nvSpPr>
        <p:spPr>
          <a:xfrm>
            <a:off x="819031" y="1598176"/>
            <a:ext cx="316944" cy="396240"/>
          </a:xfrm>
          <a:prstGeom prst="rect">
            <a:avLst/>
          </a:prstGeom>
          <a:noFill/>
          <a:ln/>
        </p:spPr>
        <p:txBody>
          <a:bodyPr wrap="none" lIns="0" tIns="0" rIns="0" bIns="0" rtlCol="0" anchor="t"/>
          <a:lstStyle/>
          <a:p>
            <a:pPr marL="0" indent="0" algn="ctr">
              <a:lnSpc>
                <a:spcPts val="2450"/>
              </a:lnSpc>
              <a:buNone/>
            </a:pPr>
            <a:r>
              <a:rPr lang="en-US" sz="2450" dirty="0">
                <a:solidFill>
                  <a:srgbClr val="000000"/>
                </a:solidFill>
                <a:latin typeface="Noto Serif Medium" pitchFamily="34" charset="0"/>
                <a:ea typeface="Noto Serif Medium" pitchFamily="34" charset="-122"/>
                <a:cs typeface="Noto Serif Medium" pitchFamily="34" charset="-120"/>
              </a:rPr>
              <a:t>1</a:t>
            </a:r>
            <a:endParaRPr lang="en-US" sz="2450" dirty="0"/>
          </a:p>
        </p:txBody>
      </p:sp>
      <p:sp>
        <p:nvSpPr>
          <p:cNvPr id="8" name="Text 5"/>
          <p:cNvSpPr/>
          <p:nvPr/>
        </p:nvSpPr>
        <p:spPr>
          <a:xfrm>
            <a:off x="2034302" y="1631156"/>
            <a:ext cx="3673435" cy="330160"/>
          </a:xfrm>
          <a:prstGeom prst="rect">
            <a:avLst/>
          </a:prstGeom>
          <a:noFill/>
          <a:ln/>
        </p:spPr>
        <p:txBody>
          <a:bodyPr wrap="none" lIns="0" tIns="0" rIns="0" bIns="0" rtlCol="0" anchor="t"/>
          <a:lstStyle/>
          <a:p>
            <a:pPr marL="0" indent="0" algn="l">
              <a:lnSpc>
                <a:spcPts val="2600"/>
              </a:lnSpc>
              <a:buNone/>
            </a:pPr>
            <a:r>
              <a:rPr lang="en-US" sz="2050" dirty="0">
                <a:solidFill>
                  <a:srgbClr val="4C4C4C"/>
                </a:solidFill>
                <a:latin typeface="Noto Serif Medium" pitchFamily="34" charset="0"/>
                <a:ea typeface="Noto Serif Medium" pitchFamily="34" charset="-122"/>
                <a:cs typeface="Noto Serif Medium" pitchFamily="34" charset="-120"/>
              </a:rPr>
              <a:t>Bluetooth OBD-II Integration</a:t>
            </a:r>
            <a:endParaRPr lang="en-US" sz="2050" dirty="0"/>
          </a:p>
        </p:txBody>
      </p:sp>
      <p:sp>
        <p:nvSpPr>
          <p:cNvPr id="9" name="Text 6"/>
          <p:cNvSpPr/>
          <p:nvPr/>
        </p:nvSpPr>
        <p:spPr>
          <a:xfrm>
            <a:off x="2034302" y="2088118"/>
            <a:ext cx="6369963" cy="676275"/>
          </a:xfrm>
          <a:prstGeom prst="rect">
            <a:avLst/>
          </a:prstGeom>
          <a:noFill/>
          <a:ln/>
        </p:spPr>
        <p:txBody>
          <a:bodyPr wrap="squar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Connect with physical OBD-II scanners for enhanced diagnostic capabilities and real-time vehicle data</a:t>
            </a:r>
            <a:endParaRPr lang="en-US" sz="1650" dirty="0"/>
          </a:p>
        </p:txBody>
      </p:sp>
      <p:sp>
        <p:nvSpPr>
          <p:cNvPr id="10" name="Shape 7"/>
          <p:cNvSpPr/>
          <p:nvPr/>
        </p:nvSpPr>
        <p:spPr>
          <a:xfrm>
            <a:off x="1192411" y="3413403"/>
            <a:ext cx="634008" cy="22860"/>
          </a:xfrm>
          <a:prstGeom prst="roundRect">
            <a:avLst>
              <a:gd name="adj" fmla="val 388338"/>
            </a:avLst>
          </a:prstGeom>
          <a:solidFill>
            <a:srgbClr val="CCC4B8"/>
          </a:solidFill>
          <a:ln/>
        </p:spPr>
      </p:sp>
      <p:sp>
        <p:nvSpPr>
          <p:cNvPr id="11" name="Shape 8"/>
          <p:cNvSpPr/>
          <p:nvPr/>
        </p:nvSpPr>
        <p:spPr>
          <a:xfrm>
            <a:off x="739735" y="3187065"/>
            <a:ext cx="475536" cy="475536"/>
          </a:xfrm>
          <a:prstGeom prst="roundRect">
            <a:avLst>
              <a:gd name="adj" fmla="val 18668"/>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12" name="Text 9"/>
          <p:cNvSpPr/>
          <p:nvPr/>
        </p:nvSpPr>
        <p:spPr>
          <a:xfrm>
            <a:off x="819031" y="3226713"/>
            <a:ext cx="316944" cy="396240"/>
          </a:xfrm>
          <a:prstGeom prst="rect">
            <a:avLst/>
          </a:prstGeom>
          <a:noFill/>
          <a:ln/>
        </p:spPr>
        <p:txBody>
          <a:bodyPr wrap="none" lIns="0" tIns="0" rIns="0" bIns="0" rtlCol="0" anchor="t"/>
          <a:lstStyle/>
          <a:p>
            <a:pPr marL="0" indent="0" algn="ctr">
              <a:lnSpc>
                <a:spcPts val="2450"/>
              </a:lnSpc>
              <a:buNone/>
            </a:pPr>
            <a:r>
              <a:rPr lang="en-US" sz="2450" dirty="0">
                <a:solidFill>
                  <a:srgbClr val="000000"/>
                </a:solidFill>
                <a:latin typeface="Noto Serif Medium" pitchFamily="34" charset="0"/>
                <a:ea typeface="Noto Serif Medium" pitchFamily="34" charset="-122"/>
                <a:cs typeface="Noto Serif Medium" pitchFamily="34" charset="-120"/>
              </a:rPr>
              <a:t>2</a:t>
            </a:r>
            <a:endParaRPr lang="en-US" sz="2450" dirty="0"/>
          </a:p>
        </p:txBody>
      </p:sp>
      <p:sp>
        <p:nvSpPr>
          <p:cNvPr id="13" name="Text 10"/>
          <p:cNvSpPr/>
          <p:nvPr/>
        </p:nvSpPr>
        <p:spPr>
          <a:xfrm>
            <a:off x="2034302" y="3259693"/>
            <a:ext cx="2641997" cy="330160"/>
          </a:xfrm>
          <a:prstGeom prst="rect">
            <a:avLst/>
          </a:prstGeom>
          <a:noFill/>
          <a:ln/>
        </p:spPr>
        <p:txBody>
          <a:bodyPr wrap="none" lIns="0" tIns="0" rIns="0" bIns="0" rtlCol="0" anchor="t"/>
          <a:lstStyle/>
          <a:p>
            <a:pPr marL="0" indent="0" algn="l">
              <a:lnSpc>
                <a:spcPts val="2600"/>
              </a:lnSpc>
              <a:buNone/>
            </a:pPr>
            <a:r>
              <a:rPr lang="en-US" sz="2050" dirty="0">
                <a:solidFill>
                  <a:srgbClr val="4C4C4C"/>
                </a:solidFill>
                <a:latin typeface="Noto Serif Medium" pitchFamily="34" charset="0"/>
                <a:ea typeface="Noto Serif Medium" pitchFamily="34" charset="-122"/>
                <a:cs typeface="Noto Serif Medium" pitchFamily="34" charset="-120"/>
              </a:rPr>
              <a:t>Advanced AI Models</a:t>
            </a:r>
            <a:endParaRPr lang="en-US" sz="2050" dirty="0"/>
          </a:p>
        </p:txBody>
      </p:sp>
      <p:sp>
        <p:nvSpPr>
          <p:cNvPr id="14" name="Text 11"/>
          <p:cNvSpPr/>
          <p:nvPr/>
        </p:nvSpPr>
        <p:spPr>
          <a:xfrm>
            <a:off x="2034302" y="3716655"/>
            <a:ext cx="6369963" cy="676275"/>
          </a:xfrm>
          <a:prstGeom prst="rect">
            <a:avLst/>
          </a:prstGeom>
          <a:noFill/>
          <a:ln/>
        </p:spPr>
        <p:txBody>
          <a:bodyPr wrap="squar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Train and deploy more robust machine learning models for improved accuracy in fault detection</a:t>
            </a:r>
            <a:endParaRPr lang="en-US" sz="1650" dirty="0"/>
          </a:p>
        </p:txBody>
      </p:sp>
      <p:sp>
        <p:nvSpPr>
          <p:cNvPr id="15" name="Shape 12"/>
          <p:cNvSpPr/>
          <p:nvPr/>
        </p:nvSpPr>
        <p:spPr>
          <a:xfrm>
            <a:off x="1192411" y="5041940"/>
            <a:ext cx="634008" cy="22860"/>
          </a:xfrm>
          <a:prstGeom prst="roundRect">
            <a:avLst>
              <a:gd name="adj" fmla="val 388338"/>
            </a:avLst>
          </a:prstGeom>
          <a:solidFill>
            <a:srgbClr val="CCC4B8"/>
          </a:solidFill>
          <a:ln/>
        </p:spPr>
      </p:sp>
      <p:sp>
        <p:nvSpPr>
          <p:cNvPr id="16" name="Shape 13"/>
          <p:cNvSpPr/>
          <p:nvPr/>
        </p:nvSpPr>
        <p:spPr>
          <a:xfrm>
            <a:off x="739735" y="4815602"/>
            <a:ext cx="475536" cy="475536"/>
          </a:xfrm>
          <a:prstGeom prst="roundRect">
            <a:avLst>
              <a:gd name="adj" fmla="val 18668"/>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17" name="Text 14"/>
          <p:cNvSpPr/>
          <p:nvPr/>
        </p:nvSpPr>
        <p:spPr>
          <a:xfrm>
            <a:off x="819031" y="4855250"/>
            <a:ext cx="316944" cy="396240"/>
          </a:xfrm>
          <a:prstGeom prst="rect">
            <a:avLst/>
          </a:prstGeom>
          <a:noFill/>
          <a:ln/>
        </p:spPr>
        <p:txBody>
          <a:bodyPr wrap="none" lIns="0" tIns="0" rIns="0" bIns="0" rtlCol="0" anchor="t"/>
          <a:lstStyle/>
          <a:p>
            <a:pPr marL="0" indent="0" algn="ctr">
              <a:lnSpc>
                <a:spcPts val="2450"/>
              </a:lnSpc>
              <a:buNone/>
            </a:pPr>
            <a:r>
              <a:rPr lang="en-US" sz="2450" dirty="0">
                <a:solidFill>
                  <a:srgbClr val="000000"/>
                </a:solidFill>
                <a:latin typeface="Noto Serif Medium" pitchFamily="34" charset="0"/>
                <a:ea typeface="Noto Serif Medium" pitchFamily="34" charset="-122"/>
                <a:cs typeface="Noto Serif Medium" pitchFamily="34" charset="-120"/>
              </a:rPr>
              <a:t>3</a:t>
            </a:r>
            <a:endParaRPr lang="en-US" sz="2450" dirty="0"/>
          </a:p>
        </p:txBody>
      </p:sp>
      <p:sp>
        <p:nvSpPr>
          <p:cNvPr id="18" name="Text 15"/>
          <p:cNvSpPr/>
          <p:nvPr/>
        </p:nvSpPr>
        <p:spPr>
          <a:xfrm>
            <a:off x="2034302" y="4888230"/>
            <a:ext cx="2641997" cy="330160"/>
          </a:xfrm>
          <a:prstGeom prst="rect">
            <a:avLst/>
          </a:prstGeom>
          <a:noFill/>
          <a:ln/>
        </p:spPr>
        <p:txBody>
          <a:bodyPr wrap="none" lIns="0" tIns="0" rIns="0" bIns="0" rtlCol="0" anchor="t"/>
          <a:lstStyle/>
          <a:p>
            <a:pPr marL="0" indent="0" algn="l">
              <a:lnSpc>
                <a:spcPts val="2600"/>
              </a:lnSpc>
              <a:buNone/>
            </a:pPr>
            <a:r>
              <a:rPr lang="en-US" sz="2050" dirty="0">
                <a:solidFill>
                  <a:srgbClr val="4C4C4C"/>
                </a:solidFill>
                <a:latin typeface="Noto Serif Medium" pitchFamily="34" charset="0"/>
                <a:ea typeface="Noto Serif Medium" pitchFamily="34" charset="-122"/>
                <a:cs typeface="Noto Serif Medium" pitchFamily="34" charset="-120"/>
              </a:rPr>
              <a:t>Admin Dashboard</a:t>
            </a:r>
            <a:endParaRPr lang="en-US" sz="2050" dirty="0"/>
          </a:p>
        </p:txBody>
      </p:sp>
      <p:sp>
        <p:nvSpPr>
          <p:cNvPr id="19" name="Text 16"/>
          <p:cNvSpPr/>
          <p:nvPr/>
        </p:nvSpPr>
        <p:spPr>
          <a:xfrm>
            <a:off x="2034302" y="5345192"/>
            <a:ext cx="6369963" cy="676275"/>
          </a:xfrm>
          <a:prstGeom prst="rect">
            <a:avLst/>
          </a:prstGeom>
          <a:noFill/>
          <a:ln/>
        </p:spPr>
        <p:txBody>
          <a:bodyPr wrap="squar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Develop analytics portal for monitoring diagnostic trends, mechanic efficiency, and user behavior</a:t>
            </a:r>
            <a:endParaRPr lang="en-US" sz="1650" dirty="0"/>
          </a:p>
        </p:txBody>
      </p:sp>
      <p:sp>
        <p:nvSpPr>
          <p:cNvPr id="20" name="Shape 17"/>
          <p:cNvSpPr/>
          <p:nvPr/>
        </p:nvSpPr>
        <p:spPr>
          <a:xfrm>
            <a:off x="1192411" y="6670477"/>
            <a:ext cx="634008" cy="22860"/>
          </a:xfrm>
          <a:prstGeom prst="roundRect">
            <a:avLst>
              <a:gd name="adj" fmla="val 388338"/>
            </a:avLst>
          </a:prstGeom>
          <a:solidFill>
            <a:srgbClr val="CCC4B8"/>
          </a:solidFill>
          <a:ln/>
        </p:spPr>
      </p:sp>
      <p:sp>
        <p:nvSpPr>
          <p:cNvPr id="21" name="Shape 18"/>
          <p:cNvSpPr/>
          <p:nvPr/>
        </p:nvSpPr>
        <p:spPr>
          <a:xfrm>
            <a:off x="739735" y="6444139"/>
            <a:ext cx="475536" cy="475536"/>
          </a:xfrm>
          <a:prstGeom prst="roundRect">
            <a:avLst>
              <a:gd name="adj" fmla="val 18668"/>
            </a:avLst>
          </a:prstGeom>
          <a:solidFill>
            <a:srgbClr val="E6DED2">
              <a:alpha val="50000"/>
            </a:srgbClr>
          </a:solidFill>
          <a:ln w="7620">
            <a:solidFill>
              <a:srgbClr val="CCC4B8"/>
            </a:solidFill>
            <a:prstDash val="solid"/>
          </a:ln>
          <a:effectLst>
            <a:outerShdw dist="19050" dir="2700000" algn="bl" rotWithShape="0">
              <a:srgbClr val="CCC4B8">
                <a:alpha val="100000"/>
              </a:srgbClr>
            </a:outerShdw>
          </a:effectLst>
        </p:spPr>
      </p:sp>
      <p:sp>
        <p:nvSpPr>
          <p:cNvPr id="22" name="Text 19"/>
          <p:cNvSpPr/>
          <p:nvPr/>
        </p:nvSpPr>
        <p:spPr>
          <a:xfrm>
            <a:off x="819031" y="6483787"/>
            <a:ext cx="316944" cy="396240"/>
          </a:xfrm>
          <a:prstGeom prst="rect">
            <a:avLst/>
          </a:prstGeom>
          <a:noFill/>
          <a:ln/>
        </p:spPr>
        <p:txBody>
          <a:bodyPr wrap="none" lIns="0" tIns="0" rIns="0" bIns="0" rtlCol="0" anchor="t"/>
          <a:lstStyle/>
          <a:p>
            <a:pPr marL="0" indent="0" algn="ctr">
              <a:lnSpc>
                <a:spcPts val="2450"/>
              </a:lnSpc>
              <a:buNone/>
            </a:pPr>
            <a:r>
              <a:rPr lang="en-US" sz="2450" dirty="0">
                <a:solidFill>
                  <a:srgbClr val="000000"/>
                </a:solidFill>
                <a:latin typeface="Noto Serif Medium" pitchFamily="34" charset="0"/>
                <a:ea typeface="Noto Serif Medium" pitchFamily="34" charset="-122"/>
                <a:cs typeface="Noto Serif Medium" pitchFamily="34" charset="-120"/>
              </a:rPr>
              <a:t>4</a:t>
            </a:r>
            <a:endParaRPr lang="en-US" sz="2450" dirty="0"/>
          </a:p>
        </p:txBody>
      </p:sp>
      <p:sp>
        <p:nvSpPr>
          <p:cNvPr id="23" name="Text 20"/>
          <p:cNvSpPr/>
          <p:nvPr/>
        </p:nvSpPr>
        <p:spPr>
          <a:xfrm>
            <a:off x="2034302" y="6516767"/>
            <a:ext cx="3106460" cy="330160"/>
          </a:xfrm>
          <a:prstGeom prst="rect">
            <a:avLst/>
          </a:prstGeom>
          <a:noFill/>
          <a:ln/>
        </p:spPr>
        <p:txBody>
          <a:bodyPr wrap="none" lIns="0" tIns="0" rIns="0" bIns="0" rtlCol="0" anchor="t"/>
          <a:lstStyle/>
          <a:p>
            <a:pPr marL="0" indent="0" algn="l">
              <a:lnSpc>
                <a:spcPts val="2600"/>
              </a:lnSpc>
              <a:buNone/>
            </a:pPr>
            <a:r>
              <a:rPr lang="en-US" sz="2050" dirty="0">
                <a:solidFill>
                  <a:srgbClr val="4C4C4C"/>
                </a:solidFill>
                <a:latin typeface="Noto Serif Medium" pitchFamily="34" charset="0"/>
                <a:ea typeface="Noto Serif Medium" pitchFamily="34" charset="-122"/>
                <a:cs typeface="Noto Serif Medium" pitchFamily="34" charset="-120"/>
              </a:rPr>
              <a:t>Multi-Language Support</a:t>
            </a:r>
            <a:endParaRPr lang="en-US" sz="2050" dirty="0"/>
          </a:p>
        </p:txBody>
      </p:sp>
      <p:sp>
        <p:nvSpPr>
          <p:cNvPr id="24" name="Text 21"/>
          <p:cNvSpPr/>
          <p:nvPr/>
        </p:nvSpPr>
        <p:spPr>
          <a:xfrm>
            <a:off x="2034302" y="6973729"/>
            <a:ext cx="6369963" cy="676275"/>
          </a:xfrm>
          <a:prstGeom prst="rect">
            <a:avLst/>
          </a:prstGeom>
          <a:noFill/>
          <a:ln/>
        </p:spPr>
        <p:txBody>
          <a:bodyPr wrap="square" lIns="0" tIns="0" rIns="0" bIns="0" rtlCol="0" anchor="t"/>
          <a:lstStyle/>
          <a:p>
            <a:pPr marL="0" indent="0" algn="l">
              <a:lnSpc>
                <a:spcPts val="2650"/>
              </a:lnSpc>
              <a:buNone/>
            </a:pPr>
            <a:r>
              <a:rPr lang="en-US" sz="1650" dirty="0">
                <a:solidFill>
                  <a:srgbClr val="4C4C4C"/>
                </a:solidFill>
                <a:latin typeface="Noto Serif" pitchFamily="34" charset="0"/>
                <a:ea typeface="Noto Serif" pitchFamily="34" charset="-122"/>
                <a:cs typeface="Noto Serif" pitchFamily="34" charset="-120"/>
              </a:rPr>
              <a:t>Add language localization to make the app accessible in diverse geographic regions</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6021" y="428982"/>
            <a:ext cx="3900607" cy="487561"/>
          </a:xfrm>
          <a:prstGeom prst="rect">
            <a:avLst/>
          </a:prstGeom>
          <a:noFill/>
          <a:ln/>
        </p:spPr>
        <p:txBody>
          <a:bodyPr wrap="none" lIns="0" tIns="0" rIns="0" bIns="0" rtlCol="0" anchor="t"/>
          <a:lstStyle/>
          <a:p>
            <a:pPr marL="0" indent="0" algn="l">
              <a:lnSpc>
                <a:spcPts val="3800"/>
              </a:lnSpc>
              <a:buNone/>
            </a:pPr>
            <a:r>
              <a:rPr lang="en-US" sz="4400" dirty="0">
                <a:solidFill>
                  <a:srgbClr val="3A3A3A"/>
                </a:solidFill>
                <a:latin typeface="Noto Serif Medium" pitchFamily="34" charset="0"/>
                <a:ea typeface="Noto Serif Medium" pitchFamily="34" charset="-122"/>
                <a:cs typeface="Noto Serif Medium" pitchFamily="34" charset="-120"/>
              </a:rPr>
              <a:t>Conclusion</a:t>
            </a:r>
            <a:endParaRPr lang="en-US" sz="4400" dirty="0"/>
          </a:p>
        </p:txBody>
      </p:sp>
      <p:sp>
        <p:nvSpPr>
          <p:cNvPr id="3" name="Text 1"/>
          <p:cNvSpPr/>
          <p:nvPr/>
        </p:nvSpPr>
        <p:spPr>
          <a:xfrm>
            <a:off x="779978" y="1403985"/>
            <a:ext cx="13304401" cy="499110"/>
          </a:xfrm>
          <a:prstGeom prst="rect">
            <a:avLst/>
          </a:prstGeom>
          <a:noFill/>
          <a:ln/>
        </p:spPr>
        <p:txBody>
          <a:bodyPr wrap="square" lIns="0" tIns="0" rIns="0" bIns="0" rtlCol="0" anchor="t"/>
          <a:lstStyle/>
          <a:p>
            <a:pPr marL="0" indent="0" algn="l">
              <a:lnSpc>
                <a:spcPts val="1950"/>
              </a:lnSpc>
              <a:buNone/>
            </a:pPr>
            <a:r>
              <a:rPr lang="en-US" dirty="0">
                <a:solidFill>
                  <a:srgbClr val="4C4C4C"/>
                </a:solidFill>
                <a:latin typeface="Noto Serif" pitchFamily="34" charset="0"/>
                <a:ea typeface="Noto Serif" pitchFamily="34" charset="-122"/>
                <a:cs typeface="Noto Serif" pitchFamily="34" charset="-120"/>
              </a:rPr>
              <a:t>MFix represents a significant step toward democratizing vehicle diagnostics, especially in developing regions where access to traditional tools is limited but smartphone usage is widespread.</a:t>
            </a:r>
            <a:endParaRPr lang="en-US" dirty="0"/>
          </a:p>
        </p:txBody>
      </p:sp>
      <p:sp>
        <p:nvSpPr>
          <p:cNvPr id="4" name="Shape 2"/>
          <p:cNvSpPr/>
          <p:nvPr/>
        </p:nvSpPr>
        <p:spPr>
          <a:xfrm>
            <a:off x="546021" y="1228487"/>
            <a:ext cx="22860" cy="850106"/>
          </a:xfrm>
          <a:prstGeom prst="rect">
            <a:avLst/>
          </a:prstGeom>
          <a:solidFill>
            <a:srgbClr val="9C9283"/>
          </a:solidFill>
          <a:ln/>
        </p:spPr>
      </p:sp>
      <p:sp>
        <p:nvSpPr>
          <p:cNvPr id="5" name="Text 3"/>
          <p:cNvSpPr/>
          <p:nvPr/>
        </p:nvSpPr>
        <p:spPr>
          <a:xfrm>
            <a:off x="546021" y="2410063"/>
            <a:ext cx="1950244" cy="243721"/>
          </a:xfrm>
          <a:prstGeom prst="rect">
            <a:avLst/>
          </a:prstGeom>
          <a:noFill/>
          <a:ln/>
        </p:spPr>
        <p:txBody>
          <a:bodyPr wrap="none" lIns="0" tIns="0" rIns="0" bIns="0" rtlCol="0" anchor="t"/>
          <a:lstStyle/>
          <a:p>
            <a:pPr marL="0" indent="0" algn="l">
              <a:lnSpc>
                <a:spcPts val="1900"/>
              </a:lnSpc>
              <a:buNone/>
            </a:pPr>
            <a:r>
              <a:rPr lang="en-US" sz="2800" dirty="0">
                <a:solidFill>
                  <a:srgbClr val="3A3A3A"/>
                </a:solidFill>
                <a:latin typeface="Noto Serif Medium" pitchFamily="34" charset="0"/>
                <a:ea typeface="Noto Serif Medium" pitchFamily="34" charset="-122"/>
                <a:cs typeface="Noto Serif Medium" pitchFamily="34" charset="-120"/>
              </a:rPr>
              <a:t>Key Contributions</a:t>
            </a:r>
            <a:endParaRPr lang="en-US" sz="2800" dirty="0"/>
          </a:p>
        </p:txBody>
      </p:sp>
      <p:sp>
        <p:nvSpPr>
          <p:cNvPr id="6" name="Text 4"/>
          <p:cNvSpPr/>
          <p:nvPr/>
        </p:nvSpPr>
        <p:spPr>
          <a:xfrm>
            <a:off x="0" y="2967514"/>
            <a:ext cx="6578918" cy="249555"/>
          </a:xfrm>
          <a:prstGeom prst="rect">
            <a:avLst/>
          </a:prstGeom>
          <a:noFill/>
          <a:ln/>
        </p:spPr>
        <p:txBody>
          <a:bodyPr wrap="none" lIns="0" tIns="0" rIns="0" bIns="0" rtlCol="0" anchor="t"/>
          <a:lstStyle/>
          <a:p>
            <a:pPr marL="1257300" lvl="2" indent="-342900">
              <a:lnSpc>
                <a:spcPts val="1950"/>
              </a:lnSpc>
              <a:buSzPct val="100000"/>
              <a:buChar char="•"/>
            </a:pPr>
            <a:r>
              <a:rPr lang="en-US" sz="2000" dirty="0">
                <a:solidFill>
                  <a:srgbClr val="4C4C4C"/>
                </a:solidFill>
                <a:latin typeface="Noto Serif" pitchFamily="34" charset="0"/>
                <a:ea typeface="Noto Serif" pitchFamily="34" charset="-122"/>
                <a:cs typeface="Noto Serif" pitchFamily="34" charset="-120"/>
              </a:rPr>
              <a:t>Enhanced accessibility to vehicle diagnostics</a:t>
            </a:r>
            <a:endParaRPr lang="en-US" sz="2000" dirty="0"/>
          </a:p>
        </p:txBody>
      </p:sp>
      <p:sp>
        <p:nvSpPr>
          <p:cNvPr id="7" name="Text 5"/>
          <p:cNvSpPr/>
          <p:nvPr/>
        </p:nvSpPr>
        <p:spPr>
          <a:xfrm>
            <a:off x="939817" y="3530799"/>
            <a:ext cx="6586539" cy="487561"/>
          </a:xfrm>
          <a:prstGeom prst="rect">
            <a:avLst/>
          </a:prstGeom>
          <a:noFill/>
          <a:ln/>
        </p:spPr>
        <p:txBody>
          <a:bodyPr wrap="none" lIns="0" tIns="0" rIns="0" bIns="0" rtlCol="0" anchor="t"/>
          <a:lstStyle/>
          <a:p>
            <a:pPr marL="342900" indent="-342900" algn="l">
              <a:lnSpc>
                <a:spcPts val="1950"/>
              </a:lnSpc>
              <a:buSzPct val="100000"/>
              <a:buChar char="•"/>
            </a:pPr>
            <a:r>
              <a:rPr lang="en-US" dirty="0">
                <a:solidFill>
                  <a:srgbClr val="4C4C4C"/>
                </a:solidFill>
                <a:latin typeface="Noto Serif" pitchFamily="34" charset="0"/>
                <a:ea typeface="Noto Serif" pitchFamily="34" charset="-122"/>
                <a:cs typeface="Noto Serif" pitchFamily="34" charset="-120"/>
              </a:rPr>
              <a:t>Cost-effective maintenance for car owners</a:t>
            </a:r>
            <a:endParaRPr lang="en-US" dirty="0"/>
          </a:p>
        </p:txBody>
      </p:sp>
      <p:sp>
        <p:nvSpPr>
          <p:cNvPr id="8" name="Text 6"/>
          <p:cNvSpPr/>
          <p:nvPr/>
        </p:nvSpPr>
        <p:spPr>
          <a:xfrm>
            <a:off x="0" y="4211240"/>
            <a:ext cx="6578918" cy="323850"/>
          </a:xfrm>
          <a:prstGeom prst="rect">
            <a:avLst/>
          </a:prstGeom>
          <a:noFill/>
          <a:ln/>
        </p:spPr>
        <p:txBody>
          <a:bodyPr wrap="none" lIns="0" tIns="0" rIns="0" bIns="0" rtlCol="0" anchor="t"/>
          <a:lstStyle/>
          <a:p>
            <a:pPr marL="1257300" lvl="2" indent="-342900">
              <a:lnSpc>
                <a:spcPts val="1950"/>
              </a:lnSpc>
              <a:buSzPct val="100000"/>
              <a:buChar char="•"/>
            </a:pPr>
            <a:r>
              <a:rPr lang="en-US" sz="2000" dirty="0">
                <a:solidFill>
                  <a:srgbClr val="4C4C4C"/>
                </a:solidFill>
                <a:latin typeface="Noto Serif" pitchFamily="34" charset="0"/>
                <a:ea typeface="Noto Serif" pitchFamily="34" charset="-122"/>
                <a:cs typeface="Noto Serif" pitchFamily="34" charset="-120"/>
              </a:rPr>
              <a:t>Technological innovation in AI-integrated mobile apps</a:t>
            </a:r>
            <a:endParaRPr lang="en-US" sz="2000" dirty="0"/>
          </a:p>
        </p:txBody>
      </p:sp>
      <p:sp>
        <p:nvSpPr>
          <p:cNvPr id="9" name="Text 7"/>
          <p:cNvSpPr/>
          <p:nvPr/>
        </p:nvSpPr>
        <p:spPr>
          <a:xfrm>
            <a:off x="947438" y="5022295"/>
            <a:ext cx="6578918" cy="249555"/>
          </a:xfrm>
          <a:prstGeom prst="rect">
            <a:avLst/>
          </a:prstGeom>
          <a:noFill/>
          <a:ln/>
        </p:spPr>
        <p:txBody>
          <a:bodyPr wrap="none" lIns="0" tIns="0" rIns="0" bIns="0" rtlCol="0" anchor="t"/>
          <a:lstStyle/>
          <a:p>
            <a:pPr marL="342900" indent="-342900" algn="l">
              <a:lnSpc>
                <a:spcPts val="1950"/>
              </a:lnSpc>
              <a:buSzPct val="100000"/>
              <a:buChar char="•"/>
            </a:pPr>
            <a:r>
              <a:rPr lang="en-US" sz="2000" dirty="0">
                <a:solidFill>
                  <a:srgbClr val="4C4C4C"/>
                </a:solidFill>
                <a:latin typeface="Noto Serif" pitchFamily="34" charset="0"/>
                <a:ea typeface="Noto Serif" pitchFamily="34" charset="-122"/>
                <a:cs typeface="Noto Serif" pitchFamily="34" charset="-120"/>
              </a:rPr>
              <a:t>Support for local development in resource-constrained contexts</a:t>
            </a:r>
            <a:endParaRPr lang="en-US" sz="2000" dirty="0"/>
          </a:p>
        </p:txBody>
      </p:sp>
      <p:sp>
        <p:nvSpPr>
          <p:cNvPr id="11" name="Rectangle: Rounded Corners 10">
            <a:extLst>
              <a:ext uri="{FF2B5EF4-FFF2-40B4-BE49-F238E27FC236}">
                <a16:creationId xmlns:a16="http://schemas.microsoft.com/office/drawing/2014/main" id="{E69C088F-1FC1-B2D7-2E3C-B93EA46287CE}"/>
              </a:ext>
            </a:extLst>
          </p:cNvPr>
          <p:cNvSpPr/>
          <p:nvPr/>
        </p:nvSpPr>
        <p:spPr>
          <a:xfrm>
            <a:off x="12730163" y="7794783"/>
            <a:ext cx="1775698" cy="43041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1221</Words>
  <Application>Microsoft Office PowerPoint</Application>
  <PresentationFormat>Custom</PresentationFormat>
  <Paragraphs>131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Noto Serif</vt:lpstr>
      <vt:lpstr>Noto Serif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Dze Mein</cp:lastModifiedBy>
  <cp:revision>2</cp:revision>
  <dcterms:created xsi:type="dcterms:W3CDTF">2025-06-29T17:17:22Z</dcterms:created>
  <dcterms:modified xsi:type="dcterms:W3CDTF">2025-06-29T17:35:35Z</dcterms:modified>
</cp:coreProperties>
</file>